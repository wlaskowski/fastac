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" panose="020B0604020202020204" charset="0"/>
      <p:regular r:id="rId14"/>
    </p:embeddedFont>
    <p:embeddedFont>
      <p:font typeface="Courier New Bold" panose="02070609020205020404" pitchFamily="49" charset="0"/>
      <p:regular r:id="rId15"/>
      <p:bold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Italics" panose="020B0604020202020204" charset="0"/>
      <p:regular r:id="rId19"/>
    </p:embeddedFont>
    <p:embeddedFont>
      <p:font typeface="Inter Light" panose="020B0604020202020204" charset="0"/>
      <p:regular r:id="rId20"/>
    </p:embeddedFont>
    <p:embeddedFont>
      <p:font typeface="Inter Medium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30000" y="0"/>
            <a:ext cx="6858000" cy="10058400"/>
            <a:chOff x="0" y="0"/>
            <a:chExt cx="9144000" cy="13411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13411200"/>
            </a:xfrm>
            <a:custGeom>
              <a:avLst/>
              <a:gdLst/>
              <a:ahLst/>
              <a:cxnLst/>
              <a:rect l="l" t="t" r="r" b="b"/>
              <a:pathLst>
                <a:path w="9144000" h="13411200">
                  <a:moveTo>
                    <a:pt x="0" y="0"/>
                  </a:moveTo>
                  <a:lnTo>
                    <a:pt x="9144000" y="0"/>
                  </a:lnTo>
                  <a:lnTo>
                    <a:pt x="9144000" y="13411200"/>
                  </a:lnTo>
                  <a:lnTo>
                    <a:pt x="0" y="1341120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43000" y="1514475"/>
            <a:ext cx="952500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ProFACT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Protein FASTA Analysis &amp; Comparison Tool</a:t>
            </a:r>
          </a:p>
        </p:txBody>
      </p:sp>
      <p:sp>
        <p:nvSpPr>
          <p:cNvPr id="7" name="AutoShape 7"/>
          <p:cNvSpPr/>
          <p:nvPr/>
        </p:nvSpPr>
        <p:spPr>
          <a:xfrm>
            <a:off x="1143000" y="4000647"/>
            <a:ext cx="2019020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1143000" y="4762500"/>
            <a:ext cx="9144000" cy="1905000"/>
            <a:chOff x="0" y="0"/>
            <a:chExt cx="12192000" cy="254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0" cy="2540000"/>
            </a:xfrm>
            <a:custGeom>
              <a:avLst/>
              <a:gdLst/>
              <a:ahLst/>
              <a:cxnLst/>
              <a:rect l="l" t="t" r="r" b="b"/>
              <a:pathLst>
                <a:path w="12192000" h="2540000">
                  <a:moveTo>
                    <a:pt x="0" y="0"/>
                  </a:moveTo>
                  <a:lnTo>
                    <a:pt x="12192000" y="0"/>
                  </a:lnTo>
                  <a:lnTo>
                    <a:pt x="12192000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192000" cy="2549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i="1">
                  <a:solidFill>
                    <a:srgbClr val="666666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A Python CLI tool for protein FASTA quality control, duplicate detection and dataset comparison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01500" y="1524000"/>
            <a:ext cx="5715000" cy="3429000"/>
            <a:chOff x="0" y="0"/>
            <a:chExt cx="7620000" cy="457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00" cy="4572000"/>
            </a:xfrm>
            <a:custGeom>
              <a:avLst/>
              <a:gdLst/>
              <a:ahLst/>
              <a:cxnLst/>
              <a:rect l="l" t="t" r="r" b="b"/>
              <a:pathLst>
                <a:path w="7620000" h="45720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7366000" y="0"/>
                  </a:lnTo>
                  <a:cubicBezTo>
                    <a:pt x="7506208" y="0"/>
                    <a:pt x="7620000" y="113665"/>
                    <a:pt x="7620000" y="254000"/>
                  </a:cubicBezTo>
                  <a:lnTo>
                    <a:pt x="7620000" y="4318000"/>
                  </a:lnTo>
                  <a:cubicBezTo>
                    <a:pt x="7620000" y="4458208"/>
                    <a:pt x="7506335" y="4572000"/>
                    <a:pt x="7366000" y="4572000"/>
                  </a:cubicBezTo>
                  <a:lnTo>
                    <a:pt x="254000" y="4572000"/>
                  </a:lnTo>
                  <a:cubicBezTo>
                    <a:pt x="113792" y="4572000"/>
                    <a:pt x="0" y="4458335"/>
                    <a:pt x="0" y="4318000"/>
                  </a:cubicBez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306300" y="1733550"/>
            <a:ext cx="723900" cy="152400"/>
          </a:xfrm>
          <a:custGeom>
            <a:avLst/>
            <a:gdLst/>
            <a:ahLst/>
            <a:cxnLst/>
            <a:rect l="l" t="t" r="r" b="b"/>
            <a:pathLst>
              <a:path w="723900" h="152400">
                <a:moveTo>
                  <a:pt x="0" y="0"/>
                </a:moveTo>
                <a:lnTo>
                  <a:pt x="723900" y="0"/>
                </a:lnTo>
                <a:lnTo>
                  <a:pt x="723900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14" name="TextBox 14"/>
          <p:cNvSpPr txBox="1"/>
          <p:nvPr/>
        </p:nvSpPr>
        <p:spPr>
          <a:xfrm>
            <a:off x="12287250" y="2181225"/>
            <a:ext cx="5143795" cy="258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22C55E"/>
                </a:solidFill>
                <a:latin typeface="Courier New"/>
                <a:ea typeface="Courier New"/>
                <a:cs typeface="Courier New"/>
                <a:sym typeface="Courier New"/>
              </a:rPr>
              <a:t>$ profact --help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&gt; stats | validate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&gt; duplicates | compare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&gt; report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01500" y="6477000"/>
            <a:ext cx="5715000" cy="2286000"/>
            <a:chOff x="0" y="0"/>
            <a:chExt cx="7620000" cy="3048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20000" cy="3048000"/>
            </a:xfrm>
            <a:custGeom>
              <a:avLst/>
              <a:gdLst/>
              <a:ahLst/>
              <a:cxnLst/>
              <a:rect l="l" t="t" r="r" b="b"/>
              <a:pathLst>
                <a:path w="7620000" h="3048000">
                  <a:moveTo>
                    <a:pt x="0" y="0"/>
                  </a:moveTo>
                  <a:lnTo>
                    <a:pt x="7620000" y="0"/>
                  </a:lnTo>
                  <a:lnTo>
                    <a:pt x="7620000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r="-1321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7620000" cy="30575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71809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Developed by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Wojciech Laskowski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Wojciech Moryl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Karolina Winczewska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0" y="762000"/>
            <a:ext cx="16764000" cy="1351359"/>
            <a:chOff x="0" y="0"/>
            <a:chExt cx="22352000" cy="18018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52000" cy="1801813"/>
            </a:xfrm>
            <a:custGeom>
              <a:avLst/>
              <a:gdLst/>
              <a:ahLst/>
              <a:cxnLst/>
              <a:rect l="l" t="t" r="r" b="b"/>
              <a:pathLst>
                <a:path w="22352000" h="1801813">
                  <a:moveTo>
                    <a:pt x="0" y="0"/>
                  </a:moveTo>
                  <a:lnTo>
                    <a:pt x="22352000" y="0"/>
                  </a:lnTo>
                  <a:lnTo>
                    <a:pt x="22352000" y="1801813"/>
                  </a:lnTo>
                  <a:lnTo>
                    <a:pt x="0" y="180181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26" b="-18400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22352000" cy="179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Protein FASTA Files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762000" y="2381250"/>
            <a:ext cx="16764000" cy="762000"/>
            <a:chOff x="0" y="0"/>
            <a:chExt cx="22352000" cy="10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52000" cy="1016000"/>
            </a:xfrm>
            <a:custGeom>
              <a:avLst/>
              <a:gdLst/>
              <a:ahLst/>
              <a:cxnLst/>
              <a:rect l="l" t="t" r="r" b="b"/>
              <a:pathLst>
                <a:path w="22352000" h="1016000">
                  <a:moveTo>
                    <a:pt x="0" y="0"/>
                  </a:moveTo>
                  <a:lnTo>
                    <a:pt x="22352000" y="0"/>
                  </a:lnTo>
                  <a:lnTo>
                    <a:pt x="22352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670" b="-37867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2352000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Proteins are large biomolecules made of amino acids, stored in FASTA text format.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2475" y="8535957"/>
            <a:ext cx="16783050" cy="971845"/>
            <a:chOff x="0" y="0"/>
            <a:chExt cx="22377400" cy="12957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377400" cy="1295781"/>
            </a:xfrm>
            <a:custGeom>
              <a:avLst/>
              <a:gdLst/>
              <a:ahLst/>
              <a:cxnLst/>
              <a:rect l="l" t="t" r="r" b="b"/>
              <a:pathLst>
                <a:path w="22377400" h="1295781">
                  <a:moveTo>
                    <a:pt x="0" y="0"/>
                  </a:moveTo>
                  <a:lnTo>
                    <a:pt x="22377400" y="0"/>
                  </a:lnTo>
                  <a:lnTo>
                    <a:pt x="22377400" y="1295781"/>
                  </a:lnTo>
                  <a:lnTo>
                    <a:pt x="0" y="1295781"/>
                  </a:ln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2377400" cy="1295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2C528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Common sources: UniProt, RefSeq, and Ensembl/NCBI.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762000" y="4474385"/>
            <a:ext cx="14402620" cy="1854337"/>
          </a:xfrm>
          <a:custGeom>
            <a:avLst/>
            <a:gdLst/>
            <a:ahLst/>
            <a:cxnLst/>
            <a:rect l="l" t="t" r="r" b="b"/>
            <a:pathLst>
              <a:path w="14402620" h="1854337">
                <a:moveTo>
                  <a:pt x="0" y="0"/>
                </a:moveTo>
                <a:lnTo>
                  <a:pt x="14402620" y="0"/>
                </a:lnTo>
                <a:lnTo>
                  <a:pt x="14402620" y="1854337"/>
                </a:lnTo>
                <a:lnTo>
                  <a:pt x="0" y="1854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273D"/>
            </a:solidFill>
            <a:prstDash val="solid"/>
            <a:miter/>
          </a:ln>
        </p:spPr>
        <p:txBody>
          <a:bodyPr/>
          <a:lstStyle/>
          <a:p>
            <a:endParaRPr lang="pl-PL"/>
          </a:p>
        </p:txBody>
      </p:sp>
      <p:sp>
        <p:nvSpPr>
          <p:cNvPr id="15" name="Freeform 15"/>
          <p:cNvSpPr/>
          <p:nvPr/>
        </p:nvSpPr>
        <p:spPr>
          <a:xfrm>
            <a:off x="1023989" y="4635792"/>
            <a:ext cx="13698040" cy="427956"/>
          </a:xfrm>
          <a:custGeom>
            <a:avLst/>
            <a:gdLst/>
            <a:ahLst/>
            <a:cxnLst/>
            <a:rect l="l" t="t" r="r" b="b"/>
            <a:pathLst>
              <a:path w="13698040" h="427956">
                <a:moveTo>
                  <a:pt x="0" y="0"/>
                </a:moveTo>
                <a:lnTo>
                  <a:pt x="13698039" y="0"/>
                </a:lnTo>
                <a:lnTo>
                  <a:pt x="13698039" y="427956"/>
                </a:lnTo>
                <a:lnTo>
                  <a:pt x="0" y="427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9" t="-941918" r="-706" b="-1238593"/>
            </a:stretch>
          </a:blipFill>
          <a:ln w="19050" cap="sq">
            <a:solidFill>
              <a:srgbClr val="FF5757"/>
            </a:solidFill>
            <a:prstDash val="solid"/>
            <a:miter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Box 16"/>
          <p:cNvSpPr txBox="1"/>
          <p:nvPr/>
        </p:nvSpPr>
        <p:spPr>
          <a:xfrm>
            <a:off x="762000" y="3960035"/>
            <a:ext cx="320040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FASTA format</a:t>
            </a:r>
          </a:p>
        </p:txBody>
      </p:sp>
      <p:sp>
        <p:nvSpPr>
          <p:cNvPr id="17" name="AutoShape 17"/>
          <p:cNvSpPr/>
          <p:nvPr/>
        </p:nvSpPr>
        <p:spPr>
          <a:xfrm flipH="1">
            <a:off x="14114098" y="3790994"/>
            <a:ext cx="987604" cy="84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Box 18"/>
          <p:cNvSpPr txBox="1"/>
          <p:nvPr/>
        </p:nvSpPr>
        <p:spPr>
          <a:xfrm>
            <a:off x="15181706" y="3467100"/>
            <a:ext cx="269867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description line</a:t>
            </a:r>
          </a:p>
        </p:txBody>
      </p:sp>
      <p:sp>
        <p:nvSpPr>
          <p:cNvPr id="19" name="AutoShape 19"/>
          <p:cNvSpPr/>
          <p:nvPr/>
        </p:nvSpPr>
        <p:spPr>
          <a:xfrm flipH="1" flipV="1">
            <a:off x="13216659" y="5885771"/>
            <a:ext cx="1012620" cy="7594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Box 20"/>
          <p:cNvSpPr txBox="1"/>
          <p:nvPr/>
        </p:nvSpPr>
        <p:spPr>
          <a:xfrm>
            <a:off x="14296178" y="6373782"/>
            <a:ext cx="1736884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sequence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762000"/>
            <a:ext cx="16764000" cy="1143000"/>
            <a:chOff x="0" y="0"/>
            <a:chExt cx="22352000" cy="152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352000" cy="1524000"/>
            </a:xfrm>
            <a:custGeom>
              <a:avLst/>
              <a:gdLst/>
              <a:ahLst/>
              <a:cxnLst/>
              <a:rect l="l" t="t" r="r" b="b"/>
              <a:pathLst>
                <a:path w="22352000" h="1524000">
                  <a:moveTo>
                    <a:pt x="0" y="0"/>
                  </a:moveTo>
                  <a:lnTo>
                    <a:pt x="22352000" y="0"/>
                  </a:lnTo>
                  <a:lnTo>
                    <a:pt x="2235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780" b="-2357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22352000" cy="1514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Why ProFACT?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6" name="Group 6"/>
          <p:cNvGrpSpPr/>
          <p:nvPr/>
        </p:nvGrpSpPr>
        <p:grpSpPr>
          <a:xfrm>
            <a:off x="762000" y="2381250"/>
            <a:ext cx="16764000" cy="762000"/>
            <a:chOff x="0" y="0"/>
            <a:chExt cx="22352000" cy="10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00" cy="1016000"/>
            </a:xfrm>
            <a:custGeom>
              <a:avLst/>
              <a:gdLst/>
              <a:ahLst/>
              <a:cxnLst/>
              <a:rect l="l" t="t" r="r" b="b"/>
              <a:pathLst>
                <a:path w="22352000" h="1016000">
                  <a:moveTo>
                    <a:pt x="0" y="0"/>
                  </a:moveTo>
                  <a:lnTo>
                    <a:pt x="22352000" y="0"/>
                  </a:lnTo>
                  <a:lnTo>
                    <a:pt x="22352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8670" b="-37867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2352000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Protein FASTA files often need quality checks before further analysis.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475" y="3609975"/>
            <a:ext cx="8210845" cy="5353050"/>
            <a:chOff x="0" y="0"/>
            <a:chExt cx="10947794" cy="7137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47781" cy="7137400"/>
            </a:xfrm>
            <a:custGeom>
              <a:avLst/>
              <a:gdLst/>
              <a:ahLst/>
              <a:cxnLst/>
              <a:rect l="l" t="t" r="r" b="b"/>
              <a:pathLst>
                <a:path w="10947781" h="7137400">
                  <a:moveTo>
                    <a:pt x="0" y="407797"/>
                  </a:moveTo>
                  <a:cubicBezTo>
                    <a:pt x="0" y="182626"/>
                    <a:pt x="182626" y="0"/>
                    <a:pt x="407797" y="0"/>
                  </a:cubicBezTo>
                  <a:lnTo>
                    <a:pt x="10539984" y="0"/>
                  </a:lnTo>
                  <a:cubicBezTo>
                    <a:pt x="10765282" y="0"/>
                    <a:pt x="10947781" y="182626"/>
                    <a:pt x="10947781" y="407797"/>
                  </a:cubicBezTo>
                  <a:lnTo>
                    <a:pt x="10947781" y="6729603"/>
                  </a:lnTo>
                  <a:cubicBezTo>
                    <a:pt x="10947781" y="6954901"/>
                    <a:pt x="10765155" y="7137400"/>
                    <a:pt x="10539984" y="7137400"/>
                  </a:cubicBezTo>
                  <a:lnTo>
                    <a:pt x="407797" y="7137400"/>
                  </a:lnTo>
                  <a:cubicBezTo>
                    <a:pt x="182626" y="7137400"/>
                    <a:pt x="0" y="6954774"/>
                    <a:pt x="0" y="6729603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34213" y="4191000"/>
            <a:ext cx="7447370" cy="3409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5"/>
              </a:lnSpc>
            </a:pPr>
            <a:r>
              <a:rPr lang="en-US" sz="2979" b="1">
                <a:solidFill>
                  <a:srgbClr val="2D3748"/>
                </a:solidFill>
                <a:latin typeface="Inter Bold"/>
                <a:ea typeface="Inter Bold"/>
                <a:cs typeface="Inter Bold"/>
                <a:sym typeface="Inter Bold"/>
              </a:rPr>
              <a:t>Typical QC questions</a:t>
            </a:r>
          </a:p>
          <a:p>
            <a:pPr algn="l">
              <a:lnSpc>
                <a:spcPts val="3575"/>
              </a:lnSpc>
            </a:pPr>
            <a:endParaRPr lang="en-US" sz="2979" b="1">
              <a:solidFill>
                <a:srgbClr val="2D3748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Are all sequences valid?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Are there unknown residues?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Are there invalid amino acid characters?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Are there duplicate IDs?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A202C"/>
                </a:solidFill>
                <a:latin typeface="Inter"/>
                <a:ea typeface="Inter"/>
                <a:cs typeface="Inter"/>
                <a:sym typeface="Inter"/>
              </a:rPr>
              <a:t>What changed between dataset versions?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24975" y="3609975"/>
            <a:ext cx="8210845" cy="5353050"/>
            <a:chOff x="0" y="0"/>
            <a:chExt cx="10947794" cy="7137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47781" cy="7137400"/>
            </a:xfrm>
            <a:custGeom>
              <a:avLst/>
              <a:gdLst/>
              <a:ahLst/>
              <a:cxnLst/>
              <a:rect l="l" t="t" r="r" b="b"/>
              <a:pathLst>
                <a:path w="10947781" h="7137400">
                  <a:moveTo>
                    <a:pt x="0" y="407797"/>
                  </a:moveTo>
                  <a:cubicBezTo>
                    <a:pt x="0" y="182626"/>
                    <a:pt x="182626" y="0"/>
                    <a:pt x="407797" y="0"/>
                  </a:cubicBezTo>
                  <a:lnTo>
                    <a:pt x="10539984" y="0"/>
                  </a:lnTo>
                  <a:cubicBezTo>
                    <a:pt x="10765282" y="0"/>
                    <a:pt x="10947781" y="182626"/>
                    <a:pt x="10947781" y="407797"/>
                  </a:cubicBezTo>
                  <a:lnTo>
                    <a:pt x="10947781" y="6729603"/>
                  </a:lnTo>
                  <a:cubicBezTo>
                    <a:pt x="10947781" y="6954901"/>
                    <a:pt x="10765155" y="7137400"/>
                    <a:pt x="10539984" y="7137400"/>
                  </a:cubicBezTo>
                  <a:lnTo>
                    <a:pt x="407797" y="7137400"/>
                  </a:lnTo>
                  <a:cubicBezTo>
                    <a:pt x="182626" y="7137400"/>
                    <a:pt x="0" y="6954774"/>
                    <a:pt x="0" y="6729603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06000" y="4191000"/>
            <a:ext cx="7048795" cy="4191000"/>
            <a:chOff x="0" y="0"/>
            <a:chExt cx="9398394" cy="5588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98400" cy="5588000"/>
            </a:xfrm>
            <a:custGeom>
              <a:avLst/>
              <a:gdLst/>
              <a:ahLst/>
              <a:cxnLst/>
              <a:rect l="l" t="t" r="r" b="b"/>
              <a:pathLst>
                <a:path w="9398400" h="5588000">
                  <a:moveTo>
                    <a:pt x="0" y="0"/>
                  </a:moveTo>
                  <a:lnTo>
                    <a:pt x="9398400" y="0"/>
                  </a:lnTo>
                  <a:lnTo>
                    <a:pt x="9398400" y="5588000"/>
                  </a:lnTo>
                  <a:lnTo>
                    <a:pt x="0" y="558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285" r="-26285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398394" cy="5597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2C52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Workflow challenge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4A5568"/>
                  </a:solidFill>
                  <a:latin typeface="Inter"/>
                  <a:ea typeface="Inter"/>
                  <a:cs typeface="Inter"/>
                  <a:sym typeface="Inter"/>
                </a:rPr>
                <a:t>These checks often require separate tools or custom scripts, leading to fragmented workflows.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657820"/>
            <a:ext cx="6628812" cy="1351359"/>
            <a:chOff x="0" y="0"/>
            <a:chExt cx="8838417" cy="18018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38416" cy="1801812"/>
            </a:xfrm>
            <a:custGeom>
              <a:avLst/>
              <a:gdLst/>
              <a:ahLst/>
              <a:cxnLst/>
              <a:rect l="l" t="t" r="r" b="b"/>
              <a:pathLst>
                <a:path w="8838416" h="1801812">
                  <a:moveTo>
                    <a:pt x="0" y="0"/>
                  </a:moveTo>
                  <a:lnTo>
                    <a:pt x="8838416" y="0"/>
                  </a:lnTo>
                  <a:lnTo>
                    <a:pt x="8838416" y="1801812"/>
                  </a:lnTo>
                  <a:lnTo>
                    <a:pt x="0" y="18018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26" r="-152895" b="-18400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8838417" cy="17922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Similar Tools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6" name="Group 6"/>
          <p:cNvGrpSpPr/>
          <p:nvPr/>
        </p:nvGrpSpPr>
        <p:grpSpPr>
          <a:xfrm>
            <a:off x="752475" y="2657475"/>
            <a:ext cx="8210845" cy="2590648"/>
            <a:chOff x="0" y="0"/>
            <a:chExt cx="10947794" cy="34541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47781" cy="3454146"/>
            </a:xfrm>
            <a:custGeom>
              <a:avLst/>
              <a:gdLst/>
              <a:ahLst/>
              <a:cxnLst/>
              <a:rect l="l" t="t" r="r" b="b"/>
              <a:pathLst>
                <a:path w="10947781" h="3454146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10640822" y="0"/>
                  </a:lnTo>
                  <a:cubicBezTo>
                    <a:pt x="10810367" y="0"/>
                    <a:pt x="10947781" y="137414"/>
                    <a:pt x="10947781" y="306959"/>
                  </a:cubicBezTo>
                  <a:lnTo>
                    <a:pt x="10947781" y="3147187"/>
                  </a:lnTo>
                  <a:cubicBezTo>
                    <a:pt x="10947781" y="3316732"/>
                    <a:pt x="10810367" y="3454146"/>
                    <a:pt x="10640822" y="3454146"/>
                  </a:cubicBezTo>
                  <a:lnTo>
                    <a:pt x="306959" y="3454146"/>
                  </a:lnTo>
                  <a:cubicBezTo>
                    <a:pt x="137414" y="3454146"/>
                    <a:pt x="0" y="3316732"/>
                    <a:pt x="0" y="31471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24975" y="2657475"/>
            <a:ext cx="8210845" cy="2590648"/>
            <a:chOff x="0" y="0"/>
            <a:chExt cx="10947794" cy="34541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47781" cy="3454146"/>
            </a:xfrm>
            <a:custGeom>
              <a:avLst/>
              <a:gdLst/>
              <a:ahLst/>
              <a:cxnLst/>
              <a:rect l="l" t="t" r="r" b="b"/>
              <a:pathLst>
                <a:path w="10947781" h="3454146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10640822" y="0"/>
                  </a:lnTo>
                  <a:cubicBezTo>
                    <a:pt x="10810367" y="0"/>
                    <a:pt x="10947781" y="137414"/>
                    <a:pt x="10947781" y="306959"/>
                  </a:cubicBezTo>
                  <a:lnTo>
                    <a:pt x="10947781" y="3147187"/>
                  </a:lnTo>
                  <a:cubicBezTo>
                    <a:pt x="10947781" y="3316732"/>
                    <a:pt x="10810367" y="3454146"/>
                    <a:pt x="10640822" y="3454146"/>
                  </a:cubicBezTo>
                  <a:lnTo>
                    <a:pt x="306959" y="3454146"/>
                  </a:lnTo>
                  <a:cubicBezTo>
                    <a:pt x="137414" y="3454146"/>
                    <a:pt x="0" y="3316732"/>
                    <a:pt x="0" y="31471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2475" y="5610225"/>
            <a:ext cx="8210845" cy="2590648"/>
            <a:chOff x="0" y="0"/>
            <a:chExt cx="10947794" cy="34541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47781" cy="3454146"/>
            </a:xfrm>
            <a:custGeom>
              <a:avLst/>
              <a:gdLst/>
              <a:ahLst/>
              <a:cxnLst/>
              <a:rect l="l" t="t" r="r" b="b"/>
              <a:pathLst>
                <a:path w="10947781" h="3454146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10640822" y="0"/>
                  </a:lnTo>
                  <a:cubicBezTo>
                    <a:pt x="10810367" y="0"/>
                    <a:pt x="10947781" y="137414"/>
                    <a:pt x="10947781" y="306959"/>
                  </a:cubicBezTo>
                  <a:lnTo>
                    <a:pt x="10947781" y="3147187"/>
                  </a:lnTo>
                  <a:cubicBezTo>
                    <a:pt x="10947781" y="3316732"/>
                    <a:pt x="10810367" y="3454146"/>
                    <a:pt x="10640822" y="3454146"/>
                  </a:cubicBezTo>
                  <a:lnTo>
                    <a:pt x="306959" y="3454146"/>
                  </a:lnTo>
                  <a:cubicBezTo>
                    <a:pt x="137414" y="3454146"/>
                    <a:pt x="0" y="3316732"/>
                    <a:pt x="0" y="31471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24975" y="5610225"/>
            <a:ext cx="8210845" cy="2590648"/>
            <a:chOff x="0" y="0"/>
            <a:chExt cx="10947794" cy="34541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47781" cy="3454146"/>
            </a:xfrm>
            <a:custGeom>
              <a:avLst/>
              <a:gdLst/>
              <a:ahLst/>
              <a:cxnLst/>
              <a:rect l="l" t="t" r="r" b="b"/>
              <a:pathLst>
                <a:path w="10947781" h="3454146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10640822" y="0"/>
                  </a:lnTo>
                  <a:cubicBezTo>
                    <a:pt x="10810367" y="0"/>
                    <a:pt x="10947781" y="137414"/>
                    <a:pt x="10947781" y="306959"/>
                  </a:cubicBezTo>
                  <a:lnTo>
                    <a:pt x="10947781" y="3147187"/>
                  </a:lnTo>
                  <a:cubicBezTo>
                    <a:pt x="10947781" y="3316732"/>
                    <a:pt x="10810367" y="3454146"/>
                    <a:pt x="10640822" y="3454146"/>
                  </a:cubicBezTo>
                  <a:lnTo>
                    <a:pt x="306959" y="3454146"/>
                  </a:lnTo>
                  <a:cubicBezTo>
                    <a:pt x="137414" y="3454146"/>
                    <a:pt x="0" y="3316732"/>
                    <a:pt x="0" y="31471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2475" y="8562975"/>
            <a:ext cx="16783050" cy="1162050"/>
            <a:chOff x="0" y="0"/>
            <a:chExt cx="22377400" cy="1549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77400" cy="1549400"/>
            </a:xfrm>
            <a:custGeom>
              <a:avLst/>
              <a:gdLst/>
              <a:ahLst/>
              <a:cxnLst/>
              <a:rect l="l" t="t" r="r" b="b"/>
              <a:pathLst>
                <a:path w="22377400" h="1549400">
                  <a:moveTo>
                    <a:pt x="0" y="309880"/>
                  </a:moveTo>
                  <a:cubicBezTo>
                    <a:pt x="0" y="138684"/>
                    <a:pt x="138684" y="0"/>
                    <a:pt x="309880" y="0"/>
                  </a:cubicBezTo>
                  <a:lnTo>
                    <a:pt x="22067520" y="0"/>
                  </a:lnTo>
                  <a:cubicBezTo>
                    <a:pt x="22238715" y="0"/>
                    <a:pt x="22377400" y="138684"/>
                    <a:pt x="22377400" y="309880"/>
                  </a:cubicBezTo>
                  <a:lnTo>
                    <a:pt x="22377400" y="1239520"/>
                  </a:lnTo>
                  <a:cubicBezTo>
                    <a:pt x="22377400" y="1410716"/>
                    <a:pt x="22238715" y="1549400"/>
                    <a:pt x="22067520" y="1549400"/>
                  </a:cubicBezTo>
                  <a:lnTo>
                    <a:pt x="309880" y="1549400"/>
                  </a:lnTo>
                  <a:cubicBezTo>
                    <a:pt x="138684" y="1549400"/>
                    <a:pt x="0" y="1410716"/>
                    <a:pt x="0" y="1239520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3000" y="8572500"/>
            <a:ext cx="16002000" cy="1143000"/>
            <a:chOff x="0" y="0"/>
            <a:chExt cx="21336000" cy="1524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336000" cy="1524000"/>
            </a:xfrm>
            <a:custGeom>
              <a:avLst/>
              <a:gdLst/>
              <a:ahLst/>
              <a:cxnLst/>
              <a:rect l="l" t="t" r="r" b="b"/>
              <a:pathLst>
                <a:path w="21336000" h="1524000">
                  <a:moveTo>
                    <a:pt x="0" y="0"/>
                  </a:moveTo>
                  <a:lnTo>
                    <a:pt x="21336000" y="0"/>
                  </a:lnTo>
                  <a:lnTo>
                    <a:pt x="21336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1336000" cy="152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C5282"/>
                  </a:solidFill>
                  <a:latin typeface="Inter"/>
                  <a:ea typeface="Inter"/>
                  <a:cs typeface="Inter"/>
                  <a:sym typeface="Inter"/>
                </a:rPr>
                <a:t>ProFACT does not replace these tools. Its value is integration: common protein FASTA QC tasks in one small CLI.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3000" y="2952750"/>
            <a:ext cx="7429795" cy="200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D3748"/>
                </a:solidFill>
                <a:latin typeface="Inter Bold"/>
                <a:ea typeface="Inter Bold"/>
                <a:cs typeface="Inter Bold"/>
                <a:sym typeface="Inter Bold"/>
              </a:rPr>
              <a:t>SeqKit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Fast sequence toolkit; supports filtering, statistics and duplicate detection.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15500" y="2952750"/>
            <a:ext cx="7429795" cy="200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D3748"/>
                </a:solidFill>
                <a:latin typeface="Inter Bold"/>
                <a:ea typeface="Inter Bold"/>
                <a:cs typeface="Inter Bold"/>
                <a:sym typeface="Inter Bold"/>
              </a:rPr>
              <a:t>FastQC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Quality control for sequencing reads, mainly nucleotide data.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3000" y="5905500"/>
            <a:ext cx="7429795" cy="1571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D3748"/>
                </a:solidFill>
                <a:latin typeface="Inter Bold"/>
                <a:ea typeface="Inter Bold"/>
                <a:cs typeface="Inter Bold"/>
                <a:sym typeface="Inter Bold"/>
              </a:rPr>
              <a:t>protfasta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Protein FASTA filtering and validation utilities that filter sequences by length and remove entries containing invalid amino acids.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15500" y="5905500"/>
            <a:ext cx="7429795" cy="200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2D3748"/>
                </a:solidFill>
                <a:latin typeface="Inter Bold"/>
                <a:ea typeface="Inter Bold"/>
                <a:cs typeface="Inter Bold"/>
                <a:sym typeface="Inter Bold"/>
              </a:rPr>
              <a:t>BioPython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Large general-purpose bioinformatics library.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577879" y="348234"/>
            <a:ext cx="2957646" cy="1970532"/>
          </a:xfrm>
          <a:custGeom>
            <a:avLst/>
            <a:gdLst/>
            <a:ahLst/>
            <a:cxnLst/>
            <a:rect l="l" t="t" r="r" b="b"/>
            <a:pathLst>
              <a:path w="2957646" h="1970532">
                <a:moveTo>
                  <a:pt x="0" y="0"/>
                </a:moveTo>
                <a:lnTo>
                  <a:pt x="2957646" y="0"/>
                </a:lnTo>
                <a:lnTo>
                  <a:pt x="2957646" y="1970532"/>
                </a:lnTo>
                <a:lnTo>
                  <a:pt x="0" y="1970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6" name="Freeform 26"/>
          <p:cNvSpPr/>
          <p:nvPr/>
        </p:nvSpPr>
        <p:spPr>
          <a:xfrm>
            <a:off x="11504577" y="294203"/>
            <a:ext cx="2771459" cy="2078594"/>
          </a:xfrm>
          <a:custGeom>
            <a:avLst/>
            <a:gdLst/>
            <a:ahLst/>
            <a:cxnLst/>
            <a:rect l="l" t="t" r="r" b="b"/>
            <a:pathLst>
              <a:path w="2771459" h="2078594">
                <a:moveTo>
                  <a:pt x="0" y="0"/>
                </a:moveTo>
                <a:lnTo>
                  <a:pt x="2771458" y="0"/>
                </a:lnTo>
                <a:lnTo>
                  <a:pt x="2771458" y="2078594"/>
                </a:lnTo>
                <a:lnTo>
                  <a:pt x="0" y="207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7" name="Freeform 27"/>
          <p:cNvSpPr/>
          <p:nvPr/>
        </p:nvSpPr>
        <p:spPr>
          <a:xfrm>
            <a:off x="7899931" y="294203"/>
            <a:ext cx="3115465" cy="1970532"/>
          </a:xfrm>
          <a:custGeom>
            <a:avLst/>
            <a:gdLst/>
            <a:ahLst/>
            <a:cxnLst/>
            <a:rect l="l" t="t" r="r" b="b"/>
            <a:pathLst>
              <a:path w="3115465" h="1970532">
                <a:moveTo>
                  <a:pt x="0" y="0"/>
                </a:moveTo>
                <a:lnTo>
                  <a:pt x="3115465" y="0"/>
                </a:lnTo>
                <a:lnTo>
                  <a:pt x="3115465" y="1970532"/>
                </a:lnTo>
                <a:lnTo>
                  <a:pt x="0" y="1970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0" y="657820"/>
            <a:ext cx="8562975" cy="1351359"/>
            <a:chOff x="0" y="0"/>
            <a:chExt cx="11417300" cy="18018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17300" cy="1801812"/>
            </a:xfrm>
            <a:custGeom>
              <a:avLst/>
              <a:gdLst/>
              <a:ahLst/>
              <a:cxnLst/>
              <a:rect l="l" t="t" r="r" b="b"/>
              <a:pathLst>
                <a:path w="11417300" h="1801812">
                  <a:moveTo>
                    <a:pt x="0" y="0"/>
                  </a:moveTo>
                  <a:lnTo>
                    <a:pt x="11417300" y="0"/>
                  </a:lnTo>
                  <a:lnTo>
                    <a:pt x="11417300" y="1801812"/>
                  </a:lnTo>
                  <a:lnTo>
                    <a:pt x="0" y="18018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26" r="-95773" b="-18400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1417300" cy="17922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ProFACT Functionality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752475" y="2657475"/>
            <a:ext cx="5250004" cy="1924050"/>
            <a:chOff x="0" y="0"/>
            <a:chExt cx="7000005" cy="2565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9997" cy="2565400"/>
            </a:xfrm>
            <a:custGeom>
              <a:avLst/>
              <a:gdLst/>
              <a:ahLst/>
              <a:cxnLst/>
              <a:rect l="l" t="t" r="r" b="b"/>
              <a:pathLst>
                <a:path w="6999997" h="2565400">
                  <a:moveTo>
                    <a:pt x="0" y="307848"/>
                  </a:moveTo>
                  <a:cubicBezTo>
                    <a:pt x="0" y="137795"/>
                    <a:pt x="88106" y="0"/>
                    <a:pt x="196838" y="0"/>
                  </a:cubicBezTo>
                  <a:lnTo>
                    <a:pt x="6803159" y="0"/>
                  </a:lnTo>
                  <a:cubicBezTo>
                    <a:pt x="6911891" y="0"/>
                    <a:pt x="6999997" y="137795"/>
                    <a:pt x="6999997" y="307848"/>
                  </a:cubicBezTo>
                  <a:lnTo>
                    <a:pt x="6999997" y="2257552"/>
                  </a:lnTo>
                  <a:cubicBezTo>
                    <a:pt x="6999997" y="2427605"/>
                    <a:pt x="6911891" y="2565400"/>
                    <a:pt x="6803159" y="2565400"/>
                  </a:cubicBezTo>
                  <a:lnTo>
                    <a:pt x="196838" y="2565400"/>
                  </a:lnTo>
                  <a:cubicBezTo>
                    <a:pt x="88106" y="2565400"/>
                    <a:pt x="0" y="2427605"/>
                    <a:pt x="0" y="2257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7750" y="2737104"/>
            <a:ext cx="857402" cy="2421523"/>
            <a:chOff x="0" y="0"/>
            <a:chExt cx="1143203" cy="32286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3200" cy="3228697"/>
            </a:xfrm>
            <a:custGeom>
              <a:avLst/>
              <a:gdLst/>
              <a:ahLst/>
              <a:cxnLst/>
              <a:rect l="l" t="t" r="r" b="b"/>
              <a:pathLst>
                <a:path w="1143200" h="3228697">
                  <a:moveTo>
                    <a:pt x="0" y="0"/>
                  </a:moveTo>
                  <a:lnTo>
                    <a:pt x="1143200" y="0"/>
                  </a:lnTo>
                  <a:lnTo>
                    <a:pt x="1143200" y="3228697"/>
                  </a:lnTo>
                  <a:lnTo>
                    <a:pt x="0" y="322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5069" r="-235069" b="2133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143203" cy="3247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9588" y="2667000"/>
            <a:ext cx="7468314" cy="1905000"/>
            <a:chOff x="0" y="0"/>
            <a:chExt cx="9957753" cy="254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957749" cy="2540000"/>
            </a:xfrm>
            <a:custGeom>
              <a:avLst/>
              <a:gdLst/>
              <a:ahLst/>
              <a:cxnLst/>
              <a:rect l="l" t="t" r="r" b="b"/>
              <a:pathLst>
                <a:path w="9957749" h="2540000">
                  <a:moveTo>
                    <a:pt x="0" y="0"/>
                  </a:moveTo>
                  <a:lnTo>
                    <a:pt x="9957749" y="0"/>
                  </a:lnTo>
                  <a:lnTo>
                    <a:pt x="9957749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4" r="11996" b="-1722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9957753" cy="254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Inspect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stats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73816" y="2647950"/>
            <a:ext cx="5250004" cy="1924050"/>
            <a:chOff x="0" y="0"/>
            <a:chExt cx="7000005" cy="2565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99997" cy="2565400"/>
            </a:xfrm>
            <a:custGeom>
              <a:avLst/>
              <a:gdLst/>
              <a:ahLst/>
              <a:cxnLst/>
              <a:rect l="l" t="t" r="r" b="b"/>
              <a:pathLst>
                <a:path w="6999997" h="2565400">
                  <a:moveTo>
                    <a:pt x="0" y="307848"/>
                  </a:moveTo>
                  <a:cubicBezTo>
                    <a:pt x="0" y="137795"/>
                    <a:pt x="88106" y="0"/>
                    <a:pt x="196838" y="0"/>
                  </a:cubicBezTo>
                  <a:lnTo>
                    <a:pt x="6803159" y="0"/>
                  </a:lnTo>
                  <a:cubicBezTo>
                    <a:pt x="6911891" y="0"/>
                    <a:pt x="6999997" y="137795"/>
                    <a:pt x="6999997" y="307848"/>
                  </a:cubicBezTo>
                  <a:lnTo>
                    <a:pt x="6999997" y="2257552"/>
                  </a:lnTo>
                  <a:cubicBezTo>
                    <a:pt x="6999997" y="2427605"/>
                    <a:pt x="6911891" y="2565400"/>
                    <a:pt x="6803159" y="2565400"/>
                  </a:cubicBezTo>
                  <a:lnTo>
                    <a:pt x="196838" y="2565400"/>
                  </a:lnTo>
                  <a:cubicBezTo>
                    <a:pt x="88106" y="2565400"/>
                    <a:pt x="0" y="2427605"/>
                    <a:pt x="0" y="2257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24792" y="2657475"/>
            <a:ext cx="7464451" cy="1905000"/>
            <a:chOff x="0" y="0"/>
            <a:chExt cx="9952601" cy="254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52597" cy="2540000"/>
            </a:xfrm>
            <a:custGeom>
              <a:avLst/>
              <a:gdLst/>
              <a:ahLst/>
              <a:cxnLst/>
              <a:rect l="l" t="t" r="r" b="b"/>
              <a:pathLst>
                <a:path w="9952597" h="2540000">
                  <a:moveTo>
                    <a:pt x="0" y="0"/>
                  </a:moveTo>
                  <a:lnTo>
                    <a:pt x="9952597" y="0"/>
                  </a:lnTo>
                  <a:lnTo>
                    <a:pt x="9952597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4" r="11950" b="-1722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9952601" cy="254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Validate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validate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2475" y="4943475"/>
            <a:ext cx="5250004" cy="1924050"/>
            <a:chOff x="0" y="0"/>
            <a:chExt cx="7000005" cy="256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99997" cy="2565400"/>
            </a:xfrm>
            <a:custGeom>
              <a:avLst/>
              <a:gdLst/>
              <a:ahLst/>
              <a:cxnLst/>
              <a:rect l="l" t="t" r="r" b="b"/>
              <a:pathLst>
                <a:path w="6999997" h="2565400">
                  <a:moveTo>
                    <a:pt x="0" y="307848"/>
                  </a:moveTo>
                  <a:cubicBezTo>
                    <a:pt x="0" y="137795"/>
                    <a:pt x="88106" y="0"/>
                    <a:pt x="196838" y="0"/>
                  </a:cubicBezTo>
                  <a:lnTo>
                    <a:pt x="6803159" y="0"/>
                  </a:lnTo>
                  <a:cubicBezTo>
                    <a:pt x="6911891" y="0"/>
                    <a:pt x="6999997" y="137795"/>
                    <a:pt x="6999997" y="307848"/>
                  </a:cubicBezTo>
                  <a:lnTo>
                    <a:pt x="6999997" y="2257552"/>
                  </a:lnTo>
                  <a:cubicBezTo>
                    <a:pt x="6999997" y="2427605"/>
                    <a:pt x="6911891" y="2565400"/>
                    <a:pt x="6803159" y="2565400"/>
                  </a:cubicBezTo>
                  <a:lnTo>
                    <a:pt x="196838" y="2565400"/>
                  </a:lnTo>
                  <a:cubicBezTo>
                    <a:pt x="88106" y="2565400"/>
                    <a:pt x="0" y="2427605"/>
                    <a:pt x="0" y="2257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99588" y="4953000"/>
            <a:ext cx="7468314" cy="1905000"/>
            <a:chOff x="0" y="0"/>
            <a:chExt cx="9957753" cy="254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57749" cy="2540000"/>
            </a:xfrm>
            <a:custGeom>
              <a:avLst/>
              <a:gdLst/>
              <a:ahLst/>
              <a:cxnLst/>
              <a:rect l="l" t="t" r="r" b="b"/>
              <a:pathLst>
                <a:path w="9957749" h="2540000">
                  <a:moveTo>
                    <a:pt x="0" y="0"/>
                  </a:moveTo>
                  <a:lnTo>
                    <a:pt x="9957749" y="0"/>
                  </a:lnTo>
                  <a:lnTo>
                    <a:pt x="9957749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4" r="11996" b="-1722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9957753" cy="254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Find duplicates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duplicates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73816" y="4933950"/>
            <a:ext cx="5250004" cy="1924050"/>
            <a:chOff x="0" y="0"/>
            <a:chExt cx="7000005" cy="2565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99997" cy="2565400"/>
            </a:xfrm>
            <a:custGeom>
              <a:avLst/>
              <a:gdLst/>
              <a:ahLst/>
              <a:cxnLst/>
              <a:rect l="l" t="t" r="r" b="b"/>
              <a:pathLst>
                <a:path w="6999997" h="2565400">
                  <a:moveTo>
                    <a:pt x="0" y="307848"/>
                  </a:moveTo>
                  <a:cubicBezTo>
                    <a:pt x="0" y="137795"/>
                    <a:pt x="88106" y="0"/>
                    <a:pt x="196838" y="0"/>
                  </a:cubicBezTo>
                  <a:lnTo>
                    <a:pt x="6803159" y="0"/>
                  </a:lnTo>
                  <a:cubicBezTo>
                    <a:pt x="6911891" y="0"/>
                    <a:pt x="6999997" y="137795"/>
                    <a:pt x="6999997" y="307848"/>
                  </a:cubicBezTo>
                  <a:lnTo>
                    <a:pt x="6999997" y="2257552"/>
                  </a:lnTo>
                  <a:cubicBezTo>
                    <a:pt x="6999997" y="2427605"/>
                    <a:pt x="6911891" y="2565400"/>
                    <a:pt x="6803159" y="2565400"/>
                  </a:cubicBezTo>
                  <a:lnTo>
                    <a:pt x="196838" y="2565400"/>
                  </a:lnTo>
                  <a:cubicBezTo>
                    <a:pt x="88106" y="2565400"/>
                    <a:pt x="0" y="2427605"/>
                    <a:pt x="0" y="2257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24792" y="4943475"/>
            <a:ext cx="7464451" cy="1905000"/>
            <a:chOff x="0" y="0"/>
            <a:chExt cx="9952601" cy="2540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952597" cy="2540000"/>
            </a:xfrm>
            <a:custGeom>
              <a:avLst/>
              <a:gdLst/>
              <a:ahLst/>
              <a:cxnLst/>
              <a:rect l="l" t="t" r="r" b="b"/>
              <a:pathLst>
                <a:path w="9952597" h="2540000">
                  <a:moveTo>
                    <a:pt x="0" y="0"/>
                  </a:moveTo>
                  <a:lnTo>
                    <a:pt x="9952597" y="0"/>
                  </a:lnTo>
                  <a:lnTo>
                    <a:pt x="9952597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4" r="11950" b="-1722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9952601" cy="254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Compare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compare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2475" y="7229475"/>
            <a:ext cx="8210845" cy="1924050"/>
            <a:chOff x="0" y="0"/>
            <a:chExt cx="10947794" cy="2565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947781" cy="2565400"/>
            </a:xfrm>
            <a:custGeom>
              <a:avLst/>
              <a:gdLst/>
              <a:ahLst/>
              <a:cxnLst/>
              <a:rect l="l" t="t" r="r" b="b"/>
              <a:pathLst>
                <a:path w="10947781" h="2565400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10639933" y="0"/>
                  </a:lnTo>
                  <a:cubicBezTo>
                    <a:pt x="10809986" y="0"/>
                    <a:pt x="10947781" y="137795"/>
                    <a:pt x="10947781" y="307848"/>
                  </a:cubicBezTo>
                  <a:lnTo>
                    <a:pt x="10947781" y="2257552"/>
                  </a:lnTo>
                  <a:cubicBezTo>
                    <a:pt x="10947781" y="2427605"/>
                    <a:pt x="10809986" y="2565400"/>
                    <a:pt x="10639933" y="2565400"/>
                  </a:cubicBezTo>
                  <a:lnTo>
                    <a:pt x="307848" y="2565400"/>
                  </a:lnTo>
                  <a:cubicBezTo>
                    <a:pt x="137795" y="2565400"/>
                    <a:pt x="0" y="2427605"/>
                    <a:pt x="0" y="2257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99588" y="7239000"/>
            <a:ext cx="7468314" cy="1905000"/>
            <a:chOff x="0" y="0"/>
            <a:chExt cx="9957753" cy="254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957749" cy="2540000"/>
            </a:xfrm>
            <a:custGeom>
              <a:avLst/>
              <a:gdLst/>
              <a:ahLst/>
              <a:cxnLst/>
              <a:rect l="l" t="t" r="r" b="b"/>
              <a:pathLst>
                <a:path w="9957749" h="2540000">
                  <a:moveTo>
                    <a:pt x="0" y="0"/>
                  </a:moveTo>
                  <a:lnTo>
                    <a:pt x="9957749" y="0"/>
                  </a:lnTo>
                  <a:lnTo>
                    <a:pt x="9957749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4" r="11996" b="-1722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9957753" cy="254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Report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report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324975" y="7229475"/>
            <a:ext cx="8210845" cy="1924050"/>
            <a:chOff x="0" y="0"/>
            <a:chExt cx="10947794" cy="2565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947781" cy="2565400"/>
            </a:xfrm>
            <a:custGeom>
              <a:avLst/>
              <a:gdLst/>
              <a:ahLst/>
              <a:cxnLst/>
              <a:rect l="l" t="t" r="r" b="b"/>
              <a:pathLst>
                <a:path w="10947781" h="2565400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10639933" y="0"/>
                  </a:lnTo>
                  <a:cubicBezTo>
                    <a:pt x="10809986" y="0"/>
                    <a:pt x="10947781" y="137795"/>
                    <a:pt x="10947781" y="307848"/>
                  </a:cubicBezTo>
                  <a:lnTo>
                    <a:pt x="10947781" y="2257552"/>
                  </a:lnTo>
                  <a:cubicBezTo>
                    <a:pt x="10947781" y="2427605"/>
                    <a:pt x="10809986" y="2565400"/>
                    <a:pt x="10639933" y="2565400"/>
                  </a:cubicBezTo>
                  <a:lnTo>
                    <a:pt x="307848" y="2565400"/>
                  </a:lnTo>
                  <a:cubicBezTo>
                    <a:pt x="137795" y="2565400"/>
                    <a:pt x="0" y="2427605"/>
                    <a:pt x="0" y="2257552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75952" y="7239000"/>
            <a:ext cx="7464451" cy="1905000"/>
            <a:chOff x="0" y="0"/>
            <a:chExt cx="9952601" cy="2540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952597" cy="2540000"/>
            </a:xfrm>
            <a:custGeom>
              <a:avLst/>
              <a:gdLst/>
              <a:ahLst/>
              <a:cxnLst/>
              <a:rect l="l" t="t" r="r" b="b"/>
              <a:pathLst>
                <a:path w="9952597" h="2540000">
                  <a:moveTo>
                    <a:pt x="0" y="0"/>
                  </a:moveTo>
                  <a:lnTo>
                    <a:pt x="9952597" y="0"/>
                  </a:lnTo>
                  <a:lnTo>
                    <a:pt x="9952597" y="2540000"/>
                  </a:lnTo>
                  <a:lnTo>
                    <a:pt x="0" y="25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224" r="11950" b="-1722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9952601" cy="2540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C5282"/>
                  </a:solidFill>
                  <a:latin typeface="Inter"/>
                  <a:ea typeface="Inter"/>
                  <a:cs typeface="Inter"/>
                  <a:sym typeface="Inter"/>
                </a:rPr>
                <a:t>One package, five commands, consistent output formats.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12190545" y="1503199"/>
            <a:ext cx="5345276" cy="5345276"/>
          </a:xfrm>
          <a:custGeom>
            <a:avLst/>
            <a:gdLst/>
            <a:ahLst/>
            <a:cxnLst/>
            <a:rect l="l" t="t" r="r" b="b"/>
            <a:pathLst>
              <a:path w="5345276" h="5345276">
                <a:moveTo>
                  <a:pt x="0" y="0"/>
                </a:moveTo>
                <a:lnTo>
                  <a:pt x="5345275" y="0"/>
                </a:lnTo>
                <a:lnTo>
                  <a:pt x="5345275" y="5345276"/>
                </a:lnTo>
                <a:lnTo>
                  <a:pt x="0" y="53452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000"/>
            </a:blip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0" y="571500"/>
            <a:ext cx="16764000" cy="1143000"/>
            <a:chOff x="0" y="0"/>
            <a:chExt cx="22352000" cy="152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52000" cy="1524000"/>
            </a:xfrm>
            <a:custGeom>
              <a:avLst/>
              <a:gdLst/>
              <a:ahLst/>
              <a:cxnLst/>
              <a:rect l="l" t="t" r="r" b="b"/>
              <a:pathLst>
                <a:path w="22352000" h="1524000">
                  <a:moveTo>
                    <a:pt x="0" y="0"/>
                  </a:moveTo>
                  <a:lnTo>
                    <a:pt x="22352000" y="0"/>
                  </a:lnTo>
                  <a:lnTo>
                    <a:pt x="2235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780" b="-2357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2352000" cy="152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Validation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723167" y="1809750"/>
            <a:ext cx="1982667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8" name="Group 8"/>
          <p:cNvGrpSpPr/>
          <p:nvPr/>
        </p:nvGrpSpPr>
        <p:grpSpPr>
          <a:xfrm>
            <a:off x="752475" y="2181225"/>
            <a:ext cx="7508594" cy="1733845"/>
            <a:chOff x="0" y="0"/>
            <a:chExt cx="10011459" cy="23117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11448" cy="2311781"/>
            </a:xfrm>
            <a:custGeom>
              <a:avLst/>
              <a:gdLst/>
              <a:ahLst/>
              <a:cxnLst/>
              <a:rect l="l" t="t" r="r" b="b"/>
              <a:pathLst>
                <a:path w="10011448" h="2311781">
                  <a:moveTo>
                    <a:pt x="0" y="308229"/>
                  </a:moveTo>
                  <a:cubicBezTo>
                    <a:pt x="0" y="138049"/>
                    <a:pt x="126242" y="0"/>
                    <a:pt x="281867" y="0"/>
                  </a:cubicBezTo>
                  <a:lnTo>
                    <a:pt x="9729581" y="0"/>
                  </a:lnTo>
                  <a:cubicBezTo>
                    <a:pt x="9885206" y="0"/>
                    <a:pt x="10011448" y="138049"/>
                    <a:pt x="10011448" y="308229"/>
                  </a:cubicBezTo>
                  <a:lnTo>
                    <a:pt x="10011448" y="2003552"/>
                  </a:lnTo>
                  <a:cubicBezTo>
                    <a:pt x="10011448" y="2173732"/>
                    <a:pt x="9885206" y="2311781"/>
                    <a:pt x="9729581" y="2311781"/>
                  </a:cubicBezTo>
                  <a:lnTo>
                    <a:pt x="281867" y="2311781"/>
                  </a:lnTo>
                  <a:cubicBezTo>
                    <a:pt x="126242" y="2311781"/>
                    <a:pt x="0" y="2173859"/>
                    <a:pt x="0" y="2003552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3500" y="2190748"/>
            <a:ext cx="7334402" cy="1714800"/>
            <a:chOff x="0" y="0"/>
            <a:chExt cx="9779203" cy="228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79200" cy="2286406"/>
            </a:xfrm>
            <a:custGeom>
              <a:avLst/>
              <a:gdLst/>
              <a:ahLst/>
              <a:cxnLst/>
              <a:rect l="l" t="t" r="r" b="b"/>
              <a:pathLst>
                <a:path w="9779200" h="2286406">
                  <a:moveTo>
                    <a:pt x="0" y="0"/>
                  </a:moveTo>
                  <a:lnTo>
                    <a:pt x="9779200" y="0"/>
                  </a:lnTo>
                  <a:lnTo>
                    <a:pt x="9779200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r="10389" b="-246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779203" cy="228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7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validate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67902" y="2181225"/>
            <a:ext cx="8867918" cy="1733845"/>
            <a:chOff x="0" y="0"/>
            <a:chExt cx="11823890" cy="2311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823878" cy="2311781"/>
            </a:xfrm>
            <a:custGeom>
              <a:avLst/>
              <a:gdLst/>
              <a:ahLst/>
              <a:cxnLst/>
              <a:rect l="l" t="t" r="r" b="b"/>
              <a:pathLst>
                <a:path w="11823878" h="2311781">
                  <a:moveTo>
                    <a:pt x="0" y="308229"/>
                  </a:moveTo>
                  <a:cubicBezTo>
                    <a:pt x="0" y="138049"/>
                    <a:pt x="149096" y="0"/>
                    <a:pt x="332895" y="0"/>
                  </a:cubicBezTo>
                  <a:lnTo>
                    <a:pt x="11490982" y="0"/>
                  </a:lnTo>
                  <a:cubicBezTo>
                    <a:pt x="11674781" y="0"/>
                    <a:pt x="11823878" y="138049"/>
                    <a:pt x="11823878" y="308229"/>
                  </a:cubicBezTo>
                  <a:lnTo>
                    <a:pt x="11823878" y="2003552"/>
                  </a:lnTo>
                  <a:cubicBezTo>
                    <a:pt x="11823878" y="2173732"/>
                    <a:pt x="11674781" y="2311781"/>
                    <a:pt x="11490982" y="2311781"/>
                  </a:cubicBezTo>
                  <a:lnTo>
                    <a:pt x="332895" y="2311781"/>
                  </a:lnTo>
                  <a:cubicBezTo>
                    <a:pt x="149096" y="2311781"/>
                    <a:pt x="0" y="2173859"/>
                    <a:pt x="0" y="2003552"/>
                  </a:cubicBezTo>
                  <a:close/>
                </a:path>
              </a:pathLst>
            </a:custGeom>
            <a:solidFill>
              <a:srgbClr val="FFF5F5"/>
            </a:solidFill>
            <a:ln w="19050" cap="sq">
              <a:solidFill>
                <a:srgbClr val="FEB2B2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2190748"/>
            <a:ext cx="8096402" cy="1714800"/>
            <a:chOff x="0" y="0"/>
            <a:chExt cx="10795203" cy="228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95199" cy="2286406"/>
            </a:xfrm>
            <a:custGeom>
              <a:avLst/>
              <a:gdLst/>
              <a:ahLst/>
              <a:cxnLst/>
              <a:rect l="l" t="t" r="r" b="b"/>
              <a:pathLst>
                <a:path w="10795199" h="2286406">
                  <a:moveTo>
                    <a:pt x="0" y="0"/>
                  </a:moveTo>
                  <a:lnTo>
                    <a:pt x="10795199" y="0"/>
                  </a:lnTo>
                  <a:lnTo>
                    <a:pt x="10795199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r="18823" b="-246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0795203" cy="228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5303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Exit Code 1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42A2A"/>
                  </a:solidFill>
                  <a:latin typeface="Inter"/>
                  <a:ea typeface="Inter"/>
                  <a:cs typeface="Inter"/>
                  <a:sym typeface="Inter"/>
                </a:rPr>
                <a:t>Returned when invalid records are found.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475" y="4276725"/>
            <a:ext cx="7508594" cy="5353050"/>
            <a:chOff x="0" y="0"/>
            <a:chExt cx="10011459" cy="7137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11450" cy="7137400"/>
            </a:xfrm>
            <a:custGeom>
              <a:avLst/>
              <a:gdLst/>
              <a:ahLst/>
              <a:cxnLst/>
              <a:rect l="l" t="t" r="r" b="b"/>
              <a:pathLst>
                <a:path w="10011450" h="7137400">
                  <a:moveTo>
                    <a:pt x="0" y="407797"/>
                  </a:moveTo>
                  <a:cubicBezTo>
                    <a:pt x="0" y="182626"/>
                    <a:pt x="135556" y="0"/>
                    <a:pt x="302692" y="0"/>
                  </a:cubicBezTo>
                  <a:lnTo>
                    <a:pt x="9708759" y="0"/>
                  </a:lnTo>
                  <a:cubicBezTo>
                    <a:pt x="9875989" y="0"/>
                    <a:pt x="10011450" y="182626"/>
                    <a:pt x="10011450" y="407797"/>
                  </a:cubicBezTo>
                  <a:lnTo>
                    <a:pt x="10011450" y="6729603"/>
                  </a:lnTo>
                  <a:cubicBezTo>
                    <a:pt x="10011450" y="6954901"/>
                    <a:pt x="9875894" y="7137400"/>
                    <a:pt x="9708759" y="7137400"/>
                  </a:cubicBezTo>
                  <a:lnTo>
                    <a:pt x="302692" y="7137400"/>
                  </a:lnTo>
                  <a:cubicBezTo>
                    <a:pt x="135556" y="7137400"/>
                    <a:pt x="0" y="6954774"/>
                    <a:pt x="0" y="67296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20" name="Freeform 20"/>
          <p:cNvSpPr/>
          <p:nvPr/>
        </p:nvSpPr>
        <p:spPr>
          <a:xfrm>
            <a:off x="8667902" y="4276725"/>
            <a:ext cx="8959079" cy="5353050"/>
          </a:xfrm>
          <a:custGeom>
            <a:avLst/>
            <a:gdLst/>
            <a:ahLst/>
            <a:cxnLst/>
            <a:rect l="l" t="t" r="r" b="b"/>
            <a:pathLst>
              <a:path w="8959079" h="5353050">
                <a:moveTo>
                  <a:pt x="0" y="0"/>
                </a:moveTo>
                <a:lnTo>
                  <a:pt x="8959080" y="0"/>
                </a:lnTo>
                <a:lnTo>
                  <a:pt x="8959080" y="5353050"/>
                </a:lnTo>
                <a:lnTo>
                  <a:pt x="0" y="535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1" name="TextBox 21"/>
          <p:cNvSpPr txBox="1"/>
          <p:nvPr/>
        </p:nvSpPr>
        <p:spPr>
          <a:xfrm>
            <a:off x="1333500" y="4762500"/>
            <a:ext cx="8953795" cy="412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2D3748"/>
                </a:solidFill>
                <a:latin typeface="Inter Bold"/>
                <a:ea typeface="Inter Bold"/>
                <a:cs typeface="Inter Bold"/>
                <a:sym typeface="Inter Bold"/>
              </a:rPr>
              <a:t>Detection Criteria</a:t>
            </a:r>
          </a:p>
          <a:p>
            <a:pPr algn="l">
              <a:lnSpc>
                <a:spcPts val="3840"/>
              </a:lnSpc>
            </a:pPr>
            <a:endParaRPr lang="en-US" sz="3399" b="1">
              <a:solidFill>
                <a:srgbClr val="2D3748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E53E3E"/>
                </a:solidFill>
                <a:latin typeface="Inter Bold"/>
                <a:ea typeface="Inter Bold"/>
                <a:cs typeface="Inter Bold"/>
                <a:sym typeface="Inter Bold"/>
              </a:rPr>
              <a:t>    Errors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Empty sequences</a:t>
            </a:r>
          </a:p>
          <a:p>
            <a:pPr marL="1002482" lvl="1" indent="-501241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Invalid amino acid characters</a:t>
            </a:r>
          </a:p>
          <a:p>
            <a:pPr algn="l">
              <a:lnSpc>
                <a:spcPts val="3119"/>
              </a:lnSpc>
            </a:pPr>
            <a:endParaRPr lang="en-US" sz="2599">
              <a:solidFill>
                <a:srgbClr val="4A5568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D69E2E"/>
                </a:solidFill>
                <a:latin typeface="Inter"/>
                <a:ea typeface="Inter"/>
                <a:cs typeface="Inter"/>
                <a:sym typeface="Inter"/>
              </a:rPr>
              <a:t>    </a:t>
            </a:r>
            <a:r>
              <a:rPr lang="en-US" sz="2599" b="1">
                <a:solidFill>
                  <a:srgbClr val="D69E2E"/>
                </a:solidFill>
                <a:latin typeface="Inter Bold"/>
                <a:ea typeface="Inter Bold"/>
                <a:cs typeface="Inter Bold"/>
                <a:sym typeface="Inter Bold"/>
              </a:rPr>
              <a:t>Warnings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Unknown residue X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Stop symbol *</a:t>
            </a:r>
          </a:p>
          <a:p>
            <a:pPr marL="1002605" lvl="1" indent="-501303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Non-standard amino acids (B, Z, J)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AutoShape 4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762000" y="762000"/>
            <a:ext cx="16764000" cy="1143000"/>
            <a:chOff x="0" y="0"/>
            <a:chExt cx="22352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0" cy="1524000"/>
            </a:xfrm>
            <a:custGeom>
              <a:avLst/>
              <a:gdLst/>
              <a:ahLst/>
              <a:cxnLst/>
              <a:rect l="l" t="t" r="r" b="b"/>
              <a:pathLst>
                <a:path w="22352000" h="1524000">
                  <a:moveTo>
                    <a:pt x="0" y="0"/>
                  </a:moveTo>
                  <a:lnTo>
                    <a:pt x="22352000" y="0"/>
                  </a:lnTo>
                  <a:lnTo>
                    <a:pt x="2235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780" b="-2357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2352000" cy="152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Duplicate Detection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75" y="2466975"/>
            <a:ext cx="8210845" cy="1437512"/>
            <a:chOff x="0" y="0"/>
            <a:chExt cx="10947794" cy="19166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47781" cy="1916672"/>
            </a:xfrm>
            <a:custGeom>
              <a:avLst/>
              <a:gdLst/>
              <a:ahLst/>
              <a:cxnLst/>
              <a:rect l="l" t="t" r="r" b="b"/>
              <a:pathLst>
                <a:path w="10947781" h="1916672">
                  <a:moveTo>
                    <a:pt x="0" y="255549"/>
                  </a:moveTo>
                  <a:cubicBezTo>
                    <a:pt x="0" y="114455"/>
                    <a:pt x="138049" y="0"/>
                    <a:pt x="308229" y="0"/>
                  </a:cubicBezTo>
                  <a:lnTo>
                    <a:pt x="10639552" y="0"/>
                  </a:lnTo>
                  <a:cubicBezTo>
                    <a:pt x="10809732" y="0"/>
                    <a:pt x="10947781" y="114455"/>
                    <a:pt x="10947781" y="255549"/>
                  </a:cubicBezTo>
                  <a:lnTo>
                    <a:pt x="10947781" y="1661123"/>
                  </a:lnTo>
                  <a:cubicBezTo>
                    <a:pt x="10947781" y="1802217"/>
                    <a:pt x="10809732" y="1916672"/>
                    <a:pt x="10639552" y="1916672"/>
                  </a:cubicBezTo>
                  <a:lnTo>
                    <a:pt x="308229" y="1916672"/>
                  </a:lnTo>
                  <a:cubicBezTo>
                    <a:pt x="138049" y="1916672"/>
                    <a:pt x="0" y="1802323"/>
                    <a:pt x="0" y="166112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3500" y="2328331"/>
            <a:ext cx="7334402" cy="1714800"/>
            <a:chOff x="0" y="0"/>
            <a:chExt cx="9779203" cy="228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79200" cy="2286406"/>
            </a:xfrm>
            <a:custGeom>
              <a:avLst/>
              <a:gdLst/>
              <a:ahLst/>
              <a:cxnLst/>
              <a:rect l="l" t="t" r="r" b="b"/>
              <a:pathLst>
                <a:path w="9779200" h="2286406">
                  <a:moveTo>
                    <a:pt x="0" y="0"/>
                  </a:moveTo>
                  <a:lnTo>
                    <a:pt x="9779200" y="0"/>
                  </a:lnTo>
                  <a:lnTo>
                    <a:pt x="9779200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r="10389" b="-246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779203" cy="228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37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duplicates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81130" y="7031756"/>
            <a:ext cx="8210845" cy="2558412"/>
            <a:chOff x="0" y="0"/>
            <a:chExt cx="10947794" cy="34112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7781" cy="3411197"/>
            </a:xfrm>
            <a:custGeom>
              <a:avLst/>
              <a:gdLst/>
              <a:ahLst/>
              <a:cxnLst/>
              <a:rect l="l" t="t" r="r" b="b"/>
              <a:pathLst>
                <a:path w="10947781" h="3411197">
                  <a:moveTo>
                    <a:pt x="0" y="454814"/>
                  </a:moveTo>
                  <a:cubicBezTo>
                    <a:pt x="0" y="203701"/>
                    <a:pt x="138049" y="0"/>
                    <a:pt x="308229" y="0"/>
                  </a:cubicBezTo>
                  <a:lnTo>
                    <a:pt x="10639552" y="0"/>
                  </a:lnTo>
                  <a:cubicBezTo>
                    <a:pt x="10809732" y="0"/>
                    <a:pt x="10947781" y="203701"/>
                    <a:pt x="10947781" y="454814"/>
                  </a:cubicBezTo>
                  <a:lnTo>
                    <a:pt x="10947781" y="2956383"/>
                  </a:lnTo>
                  <a:cubicBezTo>
                    <a:pt x="10947781" y="3207496"/>
                    <a:pt x="10809732" y="3411197"/>
                    <a:pt x="10639552" y="3411197"/>
                  </a:cubicBezTo>
                  <a:lnTo>
                    <a:pt x="308229" y="3411197"/>
                  </a:lnTo>
                  <a:cubicBezTo>
                    <a:pt x="138049" y="3411197"/>
                    <a:pt x="0" y="3207683"/>
                    <a:pt x="0" y="2956383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10430" y="2328331"/>
            <a:ext cx="857402" cy="1714800"/>
            <a:chOff x="0" y="0"/>
            <a:chExt cx="1143203" cy="228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3200" cy="2286406"/>
            </a:xfrm>
            <a:custGeom>
              <a:avLst/>
              <a:gdLst/>
              <a:ahLst/>
              <a:cxnLst/>
              <a:rect l="l" t="t" r="r" b="b"/>
              <a:pathLst>
                <a:path w="1143200" h="2286406">
                  <a:moveTo>
                    <a:pt x="0" y="0"/>
                  </a:moveTo>
                  <a:lnTo>
                    <a:pt x="1143200" y="0"/>
                  </a:lnTo>
                  <a:lnTo>
                    <a:pt x="1143200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6" r="-206606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143203" cy="230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62155" y="7031756"/>
            <a:ext cx="7197145" cy="2548889"/>
            <a:chOff x="0" y="0"/>
            <a:chExt cx="9596193" cy="33985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96189" cy="3398525"/>
            </a:xfrm>
            <a:custGeom>
              <a:avLst/>
              <a:gdLst/>
              <a:ahLst/>
              <a:cxnLst/>
              <a:rect l="l" t="t" r="r" b="b"/>
              <a:pathLst>
                <a:path w="9596189" h="3398525">
                  <a:moveTo>
                    <a:pt x="0" y="0"/>
                  </a:moveTo>
                  <a:lnTo>
                    <a:pt x="9596189" y="0"/>
                  </a:lnTo>
                  <a:lnTo>
                    <a:pt x="9596189" y="3398525"/>
                  </a:lnTo>
                  <a:lnTo>
                    <a:pt x="0" y="33985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604" r="8680" b="16119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9596193" cy="33985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2B6CB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Important Note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C5282"/>
                  </a:solidFill>
                  <a:latin typeface="Inter"/>
                  <a:ea typeface="Inter"/>
                  <a:cs typeface="Inter"/>
                  <a:sym typeface="Inter"/>
                </a:rPr>
                <a:t>Clustering uses exact sequence matching, not similarity search.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3290" y="4290781"/>
            <a:ext cx="8210845" cy="2321875"/>
            <a:chOff x="0" y="0"/>
            <a:chExt cx="10947794" cy="309583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47781" cy="3095833"/>
            </a:xfrm>
            <a:custGeom>
              <a:avLst/>
              <a:gdLst/>
              <a:ahLst/>
              <a:cxnLst/>
              <a:rect l="l" t="t" r="r" b="b"/>
              <a:pathLst>
                <a:path w="10947781" h="3095833">
                  <a:moveTo>
                    <a:pt x="0" y="190495"/>
                  </a:moveTo>
                  <a:cubicBezTo>
                    <a:pt x="0" y="85284"/>
                    <a:pt x="182626" y="0"/>
                    <a:pt x="407924" y="0"/>
                  </a:cubicBezTo>
                  <a:lnTo>
                    <a:pt x="10539857" y="0"/>
                  </a:lnTo>
                  <a:cubicBezTo>
                    <a:pt x="10765155" y="0"/>
                    <a:pt x="10947781" y="85284"/>
                    <a:pt x="10947781" y="190495"/>
                  </a:cubicBezTo>
                  <a:lnTo>
                    <a:pt x="10947781" y="2905339"/>
                  </a:lnTo>
                  <a:cubicBezTo>
                    <a:pt x="10947781" y="3010550"/>
                    <a:pt x="10765155" y="3095833"/>
                    <a:pt x="10539857" y="3095833"/>
                  </a:cubicBezTo>
                  <a:lnTo>
                    <a:pt x="407924" y="3095833"/>
                  </a:lnTo>
                  <a:cubicBezTo>
                    <a:pt x="182626" y="3095833"/>
                    <a:pt x="0" y="3010550"/>
                    <a:pt x="0" y="29053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4315" y="4395556"/>
            <a:ext cx="7048795" cy="762000"/>
            <a:chOff x="0" y="0"/>
            <a:chExt cx="9398394" cy="101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98400" cy="1016000"/>
            </a:xfrm>
            <a:custGeom>
              <a:avLst/>
              <a:gdLst/>
              <a:ahLst/>
              <a:cxnLst/>
              <a:rect l="l" t="t" r="r" b="b"/>
              <a:pathLst>
                <a:path w="9398400" h="1016000">
                  <a:moveTo>
                    <a:pt x="0" y="0"/>
                  </a:moveTo>
                  <a:lnTo>
                    <a:pt x="9398400" y="0"/>
                  </a:lnTo>
                  <a:lnTo>
                    <a:pt x="9398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244" b="-13024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9398394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Detects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3290" y="7031756"/>
            <a:ext cx="8210845" cy="2558412"/>
            <a:chOff x="0" y="0"/>
            <a:chExt cx="10947794" cy="34112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47781" cy="3411216"/>
            </a:xfrm>
            <a:custGeom>
              <a:avLst/>
              <a:gdLst/>
              <a:ahLst/>
              <a:cxnLst/>
              <a:rect l="l" t="t" r="r" b="b"/>
              <a:pathLst>
                <a:path w="10947781" h="3411216">
                  <a:moveTo>
                    <a:pt x="0" y="209901"/>
                  </a:moveTo>
                  <a:cubicBezTo>
                    <a:pt x="0" y="93972"/>
                    <a:pt x="182626" y="0"/>
                    <a:pt x="407924" y="0"/>
                  </a:cubicBezTo>
                  <a:lnTo>
                    <a:pt x="10539857" y="0"/>
                  </a:lnTo>
                  <a:cubicBezTo>
                    <a:pt x="10765155" y="0"/>
                    <a:pt x="10947781" y="93972"/>
                    <a:pt x="10947781" y="209901"/>
                  </a:cubicBezTo>
                  <a:lnTo>
                    <a:pt x="10947781" y="3201315"/>
                  </a:lnTo>
                  <a:cubicBezTo>
                    <a:pt x="10947781" y="3317244"/>
                    <a:pt x="10765155" y="3411216"/>
                    <a:pt x="10539857" y="3411216"/>
                  </a:cubicBezTo>
                  <a:lnTo>
                    <a:pt x="407924" y="3411216"/>
                  </a:lnTo>
                  <a:cubicBezTo>
                    <a:pt x="182626" y="3411216"/>
                    <a:pt x="0" y="3317244"/>
                    <a:pt x="0" y="3201315"/>
                  </a:cubicBezTo>
                  <a:close/>
                </a:path>
              </a:pathLst>
            </a:custGeom>
            <a:solidFill>
              <a:srgbClr val="EDF2F7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1512" y="7160758"/>
            <a:ext cx="7048795" cy="762000"/>
            <a:chOff x="0" y="0"/>
            <a:chExt cx="9398394" cy="1016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398400" cy="1016000"/>
            </a:xfrm>
            <a:custGeom>
              <a:avLst/>
              <a:gdLst/>
              <a:ahLst/>
              <a:cxnLst/>
              <a:rect l="l" t="t" r="r" b="b"/>
              <a:pathLst>
                <a:path w="9398400" h="1016000">
                  <a:moveTo>
                    <a:pt x="0" y="0"/>
                  </a:moveTo>
                  <a:lnTo>
                    <a:pt x="9398400" y="0"/>
                  </a:lnTo>
                  <a:lnTo>
                    <a:pt x="9398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244" b="-13024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9398394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Example Cluster Output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9416480" y="2067277"/>
            <a:ext cx="8340145" cy="4545379"/>
          </a:xfrm>
          <a:custGeom>
            <a:avLst/>
            <a:gdLst/>
            <a:ahLst/>
            <a:cxnLst/>
            <a:rect l="l" t="t" r="r" b="b"/>
            <a:pathLst>
              <a:path w="8340145" h="4545379">
                <a:moveTo>
                  <a:pt x="0" y="0"/>
                </a:moveTo>
                <a:lnTo>
                  <a:pt x="8340145" y="0"/>
                </a:lnTo>
                <a:lnTo>
                  <a:pt x="8340145" y="4545379"/>
                </a:lnTo>
                <a:lnTo>
                  <a:pt x="0" y="4545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32" name="TextBox 32"/>
          <p:cNvSpPr txBox="1"/>
          <p:nvPr/>
        </p:nvSpPr>
        <p:spPr>
          <a:xfrm>
            <a:off x="1304315" y="5243319"/>
            <a:ext cx="704879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4115" lvl="1" indent="-442057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Repeated sequence IDs</a:t>
            </a:r>
          </a:p>
          <a:p>
            <a:pPr marL="884115" lvl="1" indent="-442057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Identical sequences under different IDs</a:t>
            </a:r>
          </a:p>
          <a:p>
            <a:pPr marL="884115" lvl="1" indent="-442057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Exact duplicate sequence clusters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1512" y="7913233"/>
            <a:ext cx="7048795" cy="145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182CE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Cluster 1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length: 35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records: 2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IDs: LDRA_ECOLI, LDRC_ECOLI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AutoShape 4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762000" y="762000"/>
            <a:ext cx="16764000" cy="1351359"/>
            <a:chOff x="0" y="0"/>
            <a:chExt cx="22352000" cy="1801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0" cy="1801813"/>
            </a:xfrm>
            <a:custGeom>
              <a:avLst/>
              <a:gdLst/>
              <a:ahLst/>
              <a:cxnLst/>
              <a:rect l="l" t="t" r="r" b="b"/>
              <a:pathLst>
                <a:path w="22352000" h="1801813">
                  <a:moveTo>
                    <a:pt x="0" y="0"/>
                  </a:moveTo>
                  <a:lnTo>
                    <a:pt x="22352000" y="0"/>
                  </a:lnTo>
                  <a:lnTo>
                    <a:pt x="22352000" y="1801813"/>
                  </a:lnTo>
                  <a:lnTo>
                    <a:pt x="0" y="180181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26" b="-18400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2352000" cy="179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Comparing FASTA Files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75" y="2466975"/>
            <a:ext cx="8210845" cy="1733845"/>
            <a:chOff x="0" y="0"/>
            <a:chExt cx="10947794" cy="23117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47781" cy="2311781"/>
            </a:xfrm>
            <a:custGeom>
              <a:avLst/>
              <a:gdLst/>
              <a:ahLst/>
              <a:cxnLst/>
              <a:rect l="l" t="t" r="r" b="b"/>
              <a:pathLst>
                <a:path w="10947781" h="2311781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0639552" y="0"/>
                  </a:lnTo>
                  <a:cubicBezTo>
                    <a:pt x="10809732" y="0"/>
                    <a:pt x="10947781" y="138049"/>
                    <a:pt x="10947781" y="308229"/>
                  </a:cubicBezTo>
                  <a:lnTo>
                    <a:pt x="10947781" y="2003552"/>
                  </a:lnTo>
                  <a:cubicBezTo>
                    <a:pt x="10947781" y="2173732"/>
                    <a:pt x="10809732" y="2311781"/>
                    <a:pt x="10639552" y="2311781"/>
                  </a:cubicBezTo>
                  <a:lnTo>
                    <a:pt x="308229" y="2311781"/>
                  </a:lnTo>
                  <a:cubicBezTo>
                    <a:pt x="138049" y="2311781"/>
                    <a:pt x="0" y="2173859"/>
                    <a:pt x="0" y="200355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3500" y="2476498"/>
            <a:ext cx="7334402" cy="1714800"/>
            <a:chOff x="0" y="0"/>
            <a:chExt cx="9779203" cy="228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79200" cy="2286406"/>
            </a:xfrm>
            <a:custGeom>
              <a:avLst/>
              <a:gdLst/>
              <a:ahLst/>
              <a:cxnLst/>
              <a:rect l="l" t="t" r="r" b="b"/>
              <a:pathLst>
                <a:path w="9779200" h="2286406">
                  <a:moveTo>
                    <a:pt x="0" y="0"/>
                  </a:moveTo>
                  <a:lnTo>
                    <a:pt x="9779200" y="0"/>
                  </a:lnTo>
                  <a:lnTo>
                    <a:pt x="9779200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r="10389" b="-246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779203" cy="228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37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compare -f1 old.fasta -f2 new.fasta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4975" y="2466975"/>
            <a:ext cx="8210845" cy="1733845"/>
            <a:chOff x="0" y="0"/>
            <a:chExt cx="10947794" cy="2311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7781" cy="2311781"/>
            </a:xfrm>
            <a:custGeom>
              <a:avLst/>
              <a:gdLst/>
              <a:ahLst/>
              <a:cxnLst/>
              <a:rect l="l" t="t" r="r" b="b"/>
              <a:pathLst>
                <a:path w="10947781" h="2311781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0639552" y="0"/>
                  </a:lnTo>
                  <a:cubicBezTo>
                    <a:pt x="10809732" y="0"/>
                    <a:pt x="10947781" y="138049"/>
                    <a:pt x="10947781" y="308229"/>
                  </a:cubicBezTo>
                  <a:lnTo>
                    <a:pt x="10947781" y="2003552"/>
                  </a:lnTo>
                  <a:cubicBezTo>
                    <a:pt x="10947781" y="2173732"/>
                    <a:pt x="10809732" y="2311781"/>
                    <a:pt x="10639552" y="2311781"/>
                  </a:cubicBezTo>
                  <a:lnTo>
                    <a:pt x="308229" y="2311781"/>
                  </a:lnTo>
                  <a:cubicBezTo>
                    <a:pt x="138049" y="2311781"/>
                    <a:pt x="0" y="2173859"/>
                    <a:pt x="0" y="2003552"/>
                  </a:cubicBezTo>
                  <a:close/>
                </a:path>
              </a:pathLst>
            </a:custGeom>
            <a:solidFill>
              <a:srgbClr val="FFF5F5"/>
            </a:solidFill>
            <a:ln w="19050" cap="sq">
              <a:solidFill>
                <a:srgbClr val="FEB2B2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08810" y="2476498"/>
            <a:ext cx="7331592" cy="1714800"/>
            <a:chOff x="0" y="0"/>
            <a:chExt cx="9775457" cy="228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75453" cy="2286406"/>
            </a:xfrm>
            <a:custGeom>
              <a:avLst/>
              <a:gdLst/>
              <a:ahLst/>
              <a:cxnLst/>
              <a:rect l="l" t="t" r="r" b="b"/>
              <a:pathLst>
                <a:path w="9775453" h="2286406">
                  <a:moveTo>
                    <a:pt x="0" y="0"/>
                  </a:moveTo>
                  <a:lnTo>
                    <a:pt x="9775453" y="0"/>
                  </a:lnTo>
                  <a:lnTo>
                    <a:pt x="9775453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r="10355" b="-246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9775457" cy="228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5303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Exit Code 1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742A2A"/>
                  </a:solidFill>
                  <a:latin typeface="Inter"/>
                  <a:ea typeface="Inter"/>
                  <a:cs typeface="Inter"/>
                  <a:sym typeface="Inter"/>
                </a:rPr>
                <a:t>Returned when differences are found.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475" y="4562475"/>
            <a:ext cx="10115845" cy="4972050"/>
            <a:chOff x="0" y="0"/>
            <a:chExt cx="13487794" cy="6629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487781" cy="6629400"/>
            </a:xfrm>
            <a:custGeom>
              <a:avLst/>
              <a:gdLst/>
              <a:ahLst/>
              <a:cxnLst/>
              <a:rect l="l" t="t" r="r" b="b"/>
              <a:pathLst>
                <a:path w="13487781" h="6629400">
                  <a:moveTo>
                    <a:pt x="0" y="407924"/>
                  </a:moveTo>
                  <a:cubicBezTo>
                    <a:pt x="0" y="182626"/>
                    <a:pt x="182626" y="0"/>
                    <a:pt x="407924" y="0"/>
                  </a:cubicBezTo>
                  <a:lnTo>
                    <a:pt x="13079857" y="0"/>
                  </a:lnTo>
                  <a:cubicBezTo>
                    <a:pt x="13305155" y="0"/>
                    <a:pt x="13487781" y="182626"/>
                    <a:pt x="13487781" y="407924"/>
                  </a:cubicBezTo>
                  <a:lnTo>
                    <a:pt x="13487781" y="6221476"/>
                  </a:lnTo>
                  <a:cubicBezTo>
                    <a:pt x="13487781" y="6446774"/>
                    <a:pt x="13305155" y="6629400"/>
                    <a:pt x="13079857" y="6629400"/>
                  </a:cubicBezTo>
                  <a:lnTo>
                    <a:pt x="407924" y="6629400"/>
                  </a:lnTo>
                  <a:cubicBezTo>
                    <a:pt x="182626" y="6629400"/>
                    <a:pt x="0" y="6446774"/>
                    <a:pt x="0" y="62214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500" y="4953000"/>
            <a:ext cx="8953795" cy="762000"/>
            <a:chOff x="0" y="0"/>
            <a:chExt cx="11938394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938400" cy="1016000"/>
            </a:xfrm>
            <a:custGeom>
              <a:avLst/>
              <a:gdLst/>
              <a:ahLst/>
              <a:cxnLst/>
              <a:rect l="l" t="t" r="r" b="b"/>
              <a:pathLst>
                <a:path w="11938400" h="1016000">
                  <a:moveTo>
                    <a:pt x="0" y="0"/>
                  </a:moveTo>
                  <a:lnTo>
                    <a:pt x="11938400" y="0"/>
                  </a:lnTo>
                  <a:lnTo>
                    <a:pt x="11938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956" b="-178956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1938394" cy="1025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Identified Differences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33500" y="5810250"/>
            <a:ext cx="8953795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Added IDs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Removed IDs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Changed sequences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Changed sequence lengths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Changed duplicate clusters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1229975" y="4562475"/>
            <a:ext cx="6305845" cy="4972050"/>
            <a:chOff x="0" y="0"/>
            <a:chExt cx="8407794" cy="6629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407781" cy="6629400"/>
            </a:xfrm>
            <a:custGeom>
              <a:avLst/>
              <a:gdLst/>
              <a:ahLst/>
              <a:cxnLst/>
              <a:rect l="l" t="t" r="r" b="b"/>
              <a:pathLst>
                <a:path w="8407781" h="6629400">
                  <a:moveTo>
                    <a:pt x="0" y="407924"/>
                  </a:moveTo>
                  <a:cubicBezTo>
                    <a:pt x="0" y="182626"/>
                    <a:pt x="182626" y="0"/>
                    <a:pt x="407924" y="0"/>
                  </a:cubicBezTo>
                  <a:lnTo>
                    <a:pt x="7999857" y="0"/>
                  </a:lnTo>
                  <a:cubicBezTo>
                    <a:pt x="8225155" y="0"/>
                    <a:pt x="8407781" y="182626"/>
                    <a:pt x="8407781" y="407924"/>
                  </a:cubicBezTo>
                  <a:lnTo>
                    <a:pt x="8407781" y="6221476"/>
                  </a:lnTo>
                  <a:cubicBezTo>
                    <a:pt x="8407781" y="6446774"/>
                    <a:pt x="8225155" y="6629400"/>
                    <a:pt x="7999857" y="6629400"/>
                  </a:cubicBezTo>
                  <a:lnTo>
                    <a:pt x="407924" y="6629400"/>
                  </a:lnTo>
                  <a:cubicBezTo>
                    <a:pt x="182626" y="6629400"/>
                    <a:pt x="0" y="6446774"/>
                    <a:pt x="0" y="6221476"/>
                  </a:cubicBezTo>
                  <a:close/>
                </a:path>
              </a:pathLst>
            </a:custGeom>
            <a:solidFill>
              <a:srgbClr val="EDF2F7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15750" y="4953000"/>
            <a:ext cx="5334000" cy="762000"/>
            <a:chOff x="0" y="0"/>
            <a:chExt cx="7112000" cy="101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12000" cy="1016000"/>
            </a:xfrm>
            <a:custGeom>
              <a:avLst/>
              <a:gdLst/>
              <a:ahLst/>
              <a:cxnLst/>
              <a:rect l="l" t="t" r="r" b="b"/>
              <a:pathLst>
                <a:path w="7112000" h="1016000">
                  <a:moveTo>
                    <a:pt x="0" y="0"/>
                  </a:moveTo>
                  <a:lnTo>
                    <a:pt x="7112000" y="0"/>
                  </a:lnTo>
                  <a:lnTo>
                    <a:pt x="7112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7112000" cy="1025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Output Formats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715750" y="5781675"/>
            <a:ext cx="5334000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4A5568"/>
                </a:solidFill>
                <a:latin typeface="Arimo"/>
                <a:ea typeface="Arimo"/>
                <a:cs typeface="Arimo"/>
                <a:sym typeface="Arimo"/>
              </a:rPr>
              <a:t>📄 TXT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4A5568"/>
                </a:solidFill>
                <a:latin typeface="Arimo"/>
                <a:ea typeface="Arimo"/>
                <a:cs typeface="Arimo"/>
                <a:sym typeface="Arimo"/>
              </a:rPr>
              <a:t>📊 TSV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4A5568"/>
                </a:solidFill>
                <a:latin typeface="Arimo"/>
                <a:ea typeface="Arimo"/>
                <a:cs typeface="Arimo"/>
                <a:sym typeface="Arimo"/>
              </a:rPr>
              <a:t>🧩 JSON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4A5568"/>
                </a:solidFill>
                <a:latin typeface="Arimo"/>
                <a:ea typeface="Arimo"/>
                <a:cs typeface="Arimo"/>
                <a:sym typeface="Arimo"/>
              </a:rPr>
              <a:t>🌐 HTML</a:t>
            </a:r>
          </a:p>
          <a:p>
            <a:pPr algn="l">
              <a:lnSpc>
                <a:spcPts val="4320"/>
              </a:lnSpc>
            </a:pPr>
            <a:endParaRPr lang="en-US" sz="3600">
              <a:solidFill>
                <a:srgbClr val="4A5568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AutoShape 4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495300" y="762000"/>
            <a:ext cx="7071919" cy="1270472"/>
            <a:chOff x="0" y="0"/>
            <a:chExt cx="9429225" cy="16939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29225" cy="1693962"/>
            </a:xfrm>
            <a:custGeom>
              <a:avLst/>
              <a:gdLst/>
              <a:ahLst/>
              <a:cxnLst/>
              <a:rect l="l" t="t" r="r" b="b"/>
              <a:pathLst>
                <a:path w="9429225" h="1693962">
                  <a:moveTo>
                    <a:pt x="0" y="0"/>
                  </a:moveTo>
                  <a:lnTo>
                    <a:pt x="9429225" y="0"/>
                  </a:lnTo>
                  <a:lnTo>
                    <a:pt x="9429225" y="1693962"/>
                  </a:lnTo>
                  <a:lnTo>
                    <a:pt x="0" y="169396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2123" r="-137050" b="-20209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9429225" cy="1693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Sequence Statistics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75" y="2657475"/>
            <a:ext cx="6814744" cy="1543050"/>
            <a:chOff x="0" y="0"/>
            <a:chExt cx="9086325" cy="2057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86314" cy="2057400"/>
            </a:xfrm>
            <a:custGeom>
              <a:avLst/>
              <a:gdLst/>
              <a:ahLst/>
              <a:cxnLst/>
              <a:rect l="l" t="t" r="r" b="b"/>
              <a:pathLst>
                <a:path w="9086314" h="2057400">
                  <a:moveTo>
                    <a:pt x="0" y="308610"/>
                  </a:moveTo>
                  <a:cubicBezTo>
                    <a:pt x="0" y="138176"/>
                    <a:pt x="114682" y="0"/>
                    <a:pt x="256137" y="0"/>
                  </a:cubicBezTo>
                  <a:lnTo>
                    <a:pt x="8830177" y="0"/>
                  </a:lnTo>
                  <a:cubicBezTo>
                    <a:pt x="8971632" y="0"/>
                    <a:pt x="9086314" y="138176"/>
                    <a:pt x="9086314" y="308610"/>
                  </a:cubicBezTo>
                  <a:lnTo>
                    <a:pt x="9086314" y="1748790"/>
                  </a:lnTo>
                  <a:cubicBezTo>
                    <a:pt x="9086314" y="1919224"/>
                    <a:pt x="8971632" y="2057400"/>
                    <a:pt x="8830177" y="2057400"/>
                  </a:cubicBezTo>
                  <a:lnTo>
                    <a:pt x="256137" y="2057400"/>
                  </a:lnTo>
                  <a:cubicBezTo>
                    <a:pt x="114682" y="2057400"/>
                    <a:pt x="0" y="1919224"/>
                    <a:pt x="0" y="1748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8250" y="2667000"/>
            <a:ext cx="7429652" cy="1524000"/>
            <a:chOff x="0" y="0"/>
            <a:chExt cx="9906203" cy="2032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06199" cy="2032000"/>
            </a:xfrm>
            <a:custGeom>
              <a:avLst/>
              <a:gdLst/>
              <a:ahLst/>
              <a:cxnLst/>
              <a:rect l="l" t="t" r="r" b="b"/>
              <a:pathLst>
                <a:path w="9906199" h="2032000">
                  <a:moveTo>
                    <a:pt x="0" y="0"/>
                  </a:moveTo>
                  <a:lnTo>
                    <a:pt x="9906199" y="0"/>
                  </a:lnTo>
                  <a:lnTo>
                    <a:pt x="9906199" y="2032000"/>
                  </a:lnTo>
                  <a:lnTo>
                    <a:pt x="0" y="203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031" r="11538" b="-34031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906203" cy="203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Command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71809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stats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2475" y="4562475"/>
            <a:ext cx="6814744" cy="4972050"/>
            <a:chOff x="0" y="0"/>
            <a:chExt cx="9086325" cy="6629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86316" cy="6629400"/>
            </a:xfrm>
            <a:custGeom>
              <a:avLst/>
              <a:gdLst/>
              <a:ahLst/>
              <a:cxnLst/>
              <a:rect l="l" t="t" r="r" b="b"/>
              <a:pathLst>
                <a:path w="9086316" h="6629400">
                  <a:moveTo>
                    <a:pt x="0" y="305943"/>
                  </a:moveTo>
                  <a:cubicBezTo>
                    <a:pt x="0" y="137033"/>
                    <a:pt x="92315" y="0"/>
                    <a:pt x="206105" y="0"/>
                  </a:cubicBezTo>
                  <a:lnTo>
                    <a:pt x="8880211" y="0"/>
                  </a:lnTo>
                  <a:cubicBezTo>
                    <a:pt x="8994001" y="0"/>
                    <a:pt x="9086316" y="137033"/>
                    <a:pt x="9086316" y="305943"/>
                  </a:cubicBezTo>
                  <a:lnTo>
                    <a:pt x="9086316" y="6323457"/>
                  </a:lnTo>
                  <a:cubicBezTo>
                    <a:pt x="9086316" y="6492367"/>
                    <a:pt x="8994001" y="6629400"/>
                    <a:pt x="8880211" y="6629400"/>
                  </a:cubicBezTo>
                  <a:lnTo>
                    <a:pt x="206105" y="6629400"/>
                  </a:lnTo>
                  <a:cubicBezTo>
                    <a:pt x="92315" y="6629400"/>
                    <a:pt x="0" y="6492367"/>
                    <a:pt x="0" y="632345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8250" y="4857750"/>
            <a:ext cx="9144000" cy="762000"/>
            <a:chOff x="0" y="0"/>
            <a:chExt cx="12192000" cy="101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192000" cy="1016000"/>
            </a:xfrm>
            <a:custGeom>
              <a:avLst/>
              <a:gdLst/>
              <a:ahLst/>
              <a:cxnLst/>
              <a:rect l="l" t="t" r="r" b="b"/>
              <a:pathLst>
                <a:path w="12192000" h="1016000">
                  <a:moveTo>
                    <a:pt x="0" y="0"/>
                  </a:moveTo>
                  <a:lnTo>
                    <a:pt x="12192000" y="0"/>
                  </a:lnTo>
                  <a:lnTo>
                    <a:pt x="12192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2192000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Computed Metrics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77300" y="8677275"/>
            <a:ext cx="8244618" cy="857250"/>
            <a:chOff x="0" y="0"/>
            <a:chExt cx="10992824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92808" cy="1143000"/>
            </a:xfrm>
            <a:custGeom>
              <a:avLst/>
              <a:gdLst/>
              <a:ahLst/>
              <a:cxnLst/>
              <a:rect l="l" t="t" r="r" b="b"/>
              <a:pathLst>
                <a:path w="10992808" h="1143000">
                  <a:moveTo>
                    <a:pt x="0" y="52749"/>
                  </a:moveTo>
                  <a:cubicBezTo>
                    <a:pt x="0" y="23626"/>
                    <a:pt x="179165" y="0"/>
                    <a:pt x="400007" y="0"/>
                  </a:cubicBezTo>
                  <a:lnTo>
                    <a:pt x="10592801" y="0"/>
                  </a:lnTo>
                  <a:cubicBezTo>
                    <a:pt x="10813643" y="0"/>
                    <a:pt x="10992808" y="23626"/>
                    <a:pt x="10992808" y="52749"/>
                  </a:cubicBezTo>
                  <a:lnTo>
                    <a:pt x="10992808" y="1090251"/>
                  </a:lnTo>
                  <a:cubicBezTo>
                    <a:pt x="10992808" y="1119374"/>
                    <a:pt x="10813643" y="1143000"/>
                    <a:pt x="10592801" y="1143000"/>
                  </a:cubicBezTo>
                  <a:lnTo>
                    <a:pt x="400007" y="1143000"/>
                  </a:lnTo>
                  <a:cubicBezTo>
                    <a:pt x="179165" y="1143000"/>
                    <a:pt x="0" y="1119374"/>
                    <a:pt x="0" y="1090251"/>
                  </a:cubicBezTo>
                  <a:lnTo>
                    <a:pt x="0" y="52749"/>
                  </a:lnTo>
                  <a:close/>
                </a:path>
              </a:pathLst>
            </a:custGeom>
            <a:solidFill>
              <a:srgbClr val="F8FAFC"/>
            </a:solidFill>
            <a:ln w="19050" cap="rnd">
              <a:solidFill>
                <a:srgbClr val="E2E8F0"/>
              </a:solidFill>
              <a:prstDash val="solid"/>
              <a:round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715750" y="4857750"/>
            <a:ext cx="5334000" cy="762000"/>
            <a:chOff x="0" y="0"/>
            <a:chExt cx="7112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12000" cy="1016000"/>
            </a:xfrm>
            <a:custGeom>
              <a:avLst/>
              <a:gdLst/>
              <a:ahLst/>
              <a:cxnLst/>
              <a:rect l="l" t="t" r="r" b="b"/>
              <a:pathLst>
                <a:path w="7112000" h="1016000">
                  <a:moveTo>
                    <a:pt x="0" y="0"/>
                  </a:moveTo>
                  <a:lnTo>
                    <a:pt x="7112000" y="0"/>
                  </a:lnTo>
                  <a:lnTo>
                    <a:pt x="7112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395" b="-86395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112000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Output Formats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8648835" y="913790"/>
            <a:ext cx="8610465" cy="7297369"/>
          </a:xfrm>
          <a:custGeom>
            <a:avLst/>
            <a:gdLst/>
            <a:ahLst/>
            <a:cxnLst/>
            <a:rect l="l" t="t" r="r" b="b"/>
            <a:pathLst>
              <a:path w="8610465" h="7297369">
                <a:moveTo>
                  <a:pt x="0" y="0"/>
                </a:moveTo>
                <a:lnTo>
                  <a:pt x="8610465" y="0"/>
                </a:lnTo>
                <a:lnTo>
                  <a:pt x="8610465" y="7297370"/>
                </a:lnTo>
                <a:lnTo>
                  <a:pt x="0" y="7297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4" name="TextBox 24"/>
          <p:cNvSpPr txBox="1"/>
          <p:nvPr/>
        </p:nvSpPr>
        <p:spPr>
          <a:xfrm>
            <a:off x="1238250" y="5715000"/>
            <a:ext cx="5842898" cy="234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sequence count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total sequence length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minimum and maximum length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mean and median length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N50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amino acid composition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67113" y="8834438"/>
            <a:ext cx="78649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A5568"/>
                </a:solidFill>
                <a:latin typeface="Arimo"/>
                <a:ea typeface="Arimo"/>
                <a:cs typeface="Arimo"/>
                <a:sym typeface="Arimo"/>
              </a:rPr>
              <a:t>📄 TXT    📊 TSV    🧩 JSON    🌐 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AutoShape 4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762000" y="762000"/>
            <a:ext cx="16764000" cy="1351359"/>
            <a:chOff x="0" y="0"/>
            <a:chExt cx="22352000" cy="1801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0" cy="1801813"/>
            </a:xfrm>
            <a:custGeom>
              <a:avLst/>
              <a:gdLst/>
              <a:ahLst/>
              <a:cxnLst/>
              <a:rect l="l" t="t" r="r" b="b"/>
              <a:pathLst>
                <a:path w="22352000" h="1801813">
                  <a:moveTo>
                    <a:pt x="0" y="0"/>
                  </a:moveTo>
                  <a:lnTo>
                    <a:pt x="22352000" y="0"/>
                  </a:lnTo>
                  <a:lnTo>
                    <a:pt x="22352000" y="1801813"/>
                  </a:lnTo>
                  <a:lnTo>
                    <a:pt x="0" y="180181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26" b="-18400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2352000" cy="179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Reports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75" y="2276475"/>
            <a:ext cx="8391525" cy="1543050"/>
            <a:chOff x="0" y="0"/>
            <a:chExt cx="11188700" cy="2057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88700" cy="2057400"/>
            </a:xfrm>
            <a:custGeom>
              <a:avLst/>
              <a:gdLst/>
              <a:ahLst/>
              <a:cxnLst/>
              <a:rect l="l" t="t" r="r" b="b"/>
              <a:pathLst>
                <a:path w="11188700" h="2057400">
                  <a:moveTo>
                    <a:pt x="0" y="308610"/>
                  </a:moveTo>
                  <a:cubicBezTo>
                    <a:pt x="0" y="138176"/>
                    <a:pt x="69088" y="0"/>
                    <a:pt x="154305" y="0"/>
                  </a:cubicBezTo>
                  <a:lnTo>
                    <a:pt x="11034395" y="0"/>
                  </a:lnTo>
                  <a:cubicBezTo>
                    <a:pt x="11119612" y="0"/>
                    <a:pt x="11188700" y="138176"/>
                    <a:pt x="11188700" y="308610"/>
                  </a:cubicBezTo>
                  <a:lnTo>
                    <a:pt x="11188700" y="1748790"/>
                  </a:lnTo>
                  <a:cubicBezTo>
                    <a:pt x="11188700" y="1919224"/>
                    <a:pt x="11119612" y="2057400"/>
                    <a:pt x="11034395" y="2057400"/>
                  </a:cubicBezTo>
                  <a:lnTo>
                    <a:pt x="154305" y="2057400"/>
                  </a:lnTo>
                  <a:cubicBezTo>
                    <a:pt x="69088" y="2057400"/>
                    <a:pt x="0" y="1919224"/>
                    <a:pt x="0" y="1748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2286000"/>
            <a:ext cx="8001000" cy="1524000"/>
            <a:chOff x="0" y="0"/>
            <a:chExt cx="10668000" cy="2032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68000" cy="2032000"/>
            </a:xfrm>
            <a:custGeom>
              <a:avLst/>
              <a:gdLst/>
              <a:ahLst/>
              <a:cxnLst/>
              <a:rect l="l" t="t" r="r" b="b"/>
              <a:pathLst>
                <a:path w="10668000" h="2032000">
                  <a:moveTo>
                    <a:pt x="0" y="0"/>
                  </a:moveTo>
                  <a:lnTo>
                    <a:pt x="10668000" y="0"/>
                  </a:lnTo>
                  <a:lnTo>
                    <a:pt x="10668000" y="2032000"/>
                  </a:lnTo>
                  <a:lnTo>
                    <a:pt x="0" y="203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9979" r="-85714" b="-139979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668000" cy="203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374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profact report -i proteins.fasta -fmt html -o output/report.html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25310" y="6674320"/>
            <a:ext cx="8010215" cy="1917525"/>
            <a:chOff x="0" y="0"/>
            <a:chExt cx="10680287" cy="2556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80287" cy="2556694"/>
            </a:xfrm>
            <a:custGeom>
              <a:avLst/>
              <a:gdLst/>
              <a:ahLst/>
              <a:cxnLst/>
              <a:rect l="l" t="t" r="r" b="b"/>
              <a:pathLst>
                <a:path w="10680287" h="2556694">
                  <a:moveTo>
                    <a:pt x="0" y="133360"/>
                  </a:moveTo>
                  <a:cubicBezTo>
                    <a:pt x="0" y="59708"/>
                    <a:pt x="205054" y="0"/>
                    <a:pt x="457998" y="0"/>
                  </a:cubicBezTo>
                  <a:lnTo>
                    <a:pt x="10222289" y="0"/>
                  </a:lnTo>
                  <a:cubicBezTo>
                    <a:pt x="10475233" y="0"/>
                    <a:pt x="10680287" y="59708"/>
                    <a:pt x="10680287" y="133360"/>
                  </a:cubicBezTo>
                  <a:lnTo>
                    <a:pt x="10680287" y="2423334"/>
                  </a:lnTo>
                  <a:cubicBezTo>
                    <a:pt x="10680287" y="2496987"/>
                    <a:pt x="10475233" y="2556694"/>
                    <a:pt x="10222289" y="2556694"/>
                  </a:cubicBezTo>
                  <a:lnTo>
                    <a:pt x="457998" y="2556694"/>
                  </a:lnTo>
                  <a:cubicBezTo>
                    <a:pt x="205054" y="2556694"/>
                    <a:pt x="0" y="2496987"/>
                    <a:pt x="0" y="2423334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10106" y="6871083"/>
            <a:ext cx="4572000" cy="762000"/>
            <a:chOff x="0" y="0"/>
            <a:chExt cx="6096000" cy="101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96000" cy="1016000"/>
            </a:xfrm>
            <a:custGeom>
              <a:avLst/>
              <a:gdLst/>
              <a:ahLst/>
              <a:cxnLst/>
              <a:rect l="l" t="t" r="r" b="b"/>
              <a:pathLst>
                <a:path w="6096000" h="1016000">
                  <a:moveTo>
                    <a:pt x="0" y="0"/>
                  </a:moveTo>
                  <a:lnTo>
                    <a:pt x="6096000" y="0"/>
                  </a:lnTo>
                  <a:lnTo>
                    <a:pt x="6096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096000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60"/>
                </a:lnSpc>
              </a:pPr>
              <a:r>
                <a:rPr lang="en-US" sz="28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Output Formats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475" y="4191000"/>
            <a:ext cx="8391525" cy="4400845"/>
            <a:chOff x="0" y="0"/>
            <a:chExt cx="11188700" cy="58677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188700" cy="5867781"/>
            </a:xfrm>
            <a:custGeom>
              <a:avLst/>
              <a:gdLst/>
              <a:ahLst/>
              <a:cxnLst/>
              <a:rect l="l" t="t" r="r" b="b"/>
              <a:pathLst>
                <a:path w="11188700" h="5867781">
                  <a:moveTo>
                    <a:pt x="0" y="306070"/>
                  </a:moveTo>
                  <a:cubicBezTo>
                    <a:pt x="0" y="137033"/>
                    <a:pt x="103895" y="0"/>
                    <a:pt x="232055" y="0"/>
                  </a:cubicBezTo>
                  <a:lnTo>
                    <a:pt x="10956645" y="0"/>
                  </a:lnTo>
                  <a:cubicBezTo>
                    <a:pt x="11084806" y="0"/>
                    <a:pt x="11188700" y="137033"/>
                    <a:pt x="11188700" y="306070"/>
                  </a:cubicBezTo>
                  <a:lnTo>
                    <a:pt x="11188700" y="5561711"/>
                  </a:lnTo>
                  <a:cubicBezTo>
                    <a:pt x="11188700" y="5730748"/>
                    <a:pt x="11084806" y="5867781"/>
                    <a:pt x="10956645" y="5867781"/>
                  </a:cubicBezTo>
                  <a:lnTo>
                    <a:pt x="232055" y="5867781"/>
                  </a:lnTo>
                  <a:cubicBezTo>
                    <a:pt x="103895" y="5867781"/>
                    <a:pt x="0" y="5730748"/>
                    <a:pt x="0" y="556171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4486275"/>
            <a:ext cx="10287000" cy="762000"/>
            <a:chOff x="0" y="0"/>
            <a:chExt cx="13716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716000" cy="1016000"/>
            </a:xfrm>
            <a:custGeom>
              <a:avLst/>
              <a:gdLst/>
              <a:ahLst/>
              <a:cxnLst/>
              <a:rect l="l" t="t" r="r" b="b"/>
              <a:pathLst>
                <a:path w="13716000" h="1016000">
                  <a:moveTo>
                    <a:pt x="0" y="0"/>
                  </a:moveTo>
                  <a:lnTo>
                    <a:pt x="13716000" y="0"/>
                  </a:lnTo>
                  <a:lnTo>
                    <a:pt x="13716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3048" b="-21304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3716000" cy="1016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HTML Report Includes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2475" y="8848725"/>
            <a:ext cx="16783050" cy="971845"/>
            <a:chOff x="0" y="0"/>
            <a:chExt cx="22377400" cy="12957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377400" cy="1295908"/>
            </a:xfrm>
            <a:custGeom>
              <a:avLst/>
              <a:gdLst/>
              <a:ahLst/>
              <a:cxnLst/>
              <a:rect l="l" t="t" r="r" b="b"/>
              <a:pathLst>
                <a:path w="22377400" h="1295908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22170010" y="0"/>
                  </a:lnTo>
                  <a:cubicBezTo>
                    <a:pt x="22284564" y="0"/>
                    <a:pt x="22377400" y="92837"/>
                    <a:pt x="22377400" y="207391"/>
                  </a:cubicBezTo>
                  <a:lnTo>
                    <a:pt x="22377400" y="1088517"/>
                  </a:lnTo>
                  <a:cubicBezTo>
                    <a:pt x="22377400" y="1203071"/>
                    <a:pt x="22284564" y="1295908"/>
                    <a:pt x="22170010" y="1295908"/>
                  </a:cubicBezTo>
                  <a:lnTo>
                    <a:pt x="207391" y="1295908"/>
                  </a:lnTo>
                  <a:cubicBezTo>
                    <a:pt x="92837" y="1295781"/>
                    <a:pt x="0" y="1202944"/>
                    <a:pt x="0" y="1088517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43000" y="8858250"/>
            <a:ext cx="16002000" cy="952795"/>
            <a:chOff x="0" y="0"/>
            <a:chExt cx="21336000" cy="12703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336000" cy="1270400"/>
            </a:xfrm>
            <a:custGeom>
              <a:avLst/>
              <a:gdLst/>
              <a:ahLst/>
              <a:cxnLst/>
              <a:rect l="l" t="t" r="r" b="b"/>
              <a:pathLst>
                <a:path w="21336000" h="1270400">
                  <a:moveTo>
                    <a:pt x="0" y="0"/>
                  </a:moveTo>
                  <a:lnTo>
                    <a:pt x="21336000" y="0"/>
                  </a:lnTo>
                  <a:lnTo>
                    <a:pt x="21336000" y="1270400"/>
                  </a:lnTo>
                  <a:lnTo>
                    <a:pt x="0" y="127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245" b="-277245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21336000" cy="1270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2C52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Purpose:</a:t>
              </a:r>
              <a:r>
                <a:rPr lang="en-US" sz="2200" b="1">
                  <a:solidFill>
                    <a:srgbClr val="2C528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Readable overview of FASTA quality, statistics and duplicates.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9525310" y="1517390"/>
            <a:ext cx="8037445" cy="4802374"/>
          </a:xfrm>
          <a:custGeom>
            <a:avLst/>
            <a:gdLst/>
            <a:ahLst/>
            <a:cxnLst/>
            <a:rect l="l" t="t" r="r" b="b"/>
            <a:pathLst>
              <a:path w="8037445" h="4802374">
                <a:moveTo>
                  <a:pt x="0" y="0"/>
                </a:moveTo>
                <a:lnTo>
                  <a:pt x="8037445" y="0"/>
                </a:lnTo>
                <a:lnTo>
                  <a:pt x="8037445" y="4802373"/>
                </a:lnTo>
                <a:lnTo>
                  <a:pt x="0" y="4802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l-PL"/>
          </a:p>
        </p:txBody>
      </p:sp>
      <p:sp>
        <p:nvSpPr>
          <p:cNvPr id="29" name="TextBox 29"/>
          <p:cNvSpPr txBox="1"/>
          <p:nvPr/>
        </p:nvSpPr>
        <p:spPr>
          <a:xfrm>
            <a:off x="9810106" y="7704402"/>
            <a:ext cx="7467852" cy="85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4A5568"/>
                </a:solidFill>
                <a:latin typeface="Arimo"/>
                <a:ea typeface="Arimo"/>
                <a:cs typeface="Arimo"/>
                <a:sym typeface="Arimo"/>
              </a:rPr>
              <a:t>📄 TXT        📊 TSV     🧩 JSON     🌐 HTML</a:t>
            </a:r>
          </a:p>
          <a:p>
            <a:pPr algn="l">
              <a:lnSpc>
                <a:spcPts val="3360"/>
              </a:lnSpc>
            </a:pPr>
            <a:endParaRPr lang="en-US" sz="2800">
              <a:solidFill>
                <a:srgbClr val="4A5568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43000" y="5343525"/>
            <a:ext cx="7723554" cy="19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Summary cards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Detailed statistics tables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Amino acid composition chart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Validation summary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Duplicate cluster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AutoShape 4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762000" y="762000"/>
            <a:ext cx="16764000" cy="1351359"/>
            <a:chOff x="0" y="0"/>
            <a:chExt cx="22352000" cy="1801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0" cy="1801813"/>
            </a:xfrm>
            <a:custGeom>
              <a:avLst/>
              <a:gdLst/>
              <a:ahLst/>
              <a:cxnLst/>
              <a:rect l="l" t="t" r="r" b="b"/>
              <a:pathLst>
                <a:path w="22352000" h="1801813">
                  <a:moveTo>
                    <a:pt x="0" y="0"/>
                  </a:moveTo>
                  <a:lnTo>
                    <a:pt x="22352000" y="0"/>
                  </a:lnTo>
                  <a:lnTo>
                    <a:pt x="22352000" y="1801813"/>
                  </a:lnTo>
                  <a:lnTo>
                    <a:pt x="0" y="180181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9426" b="-184008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2352000" cy="1792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 Reproducibility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75" y="2466975"/>
            <a:ext cx="8210845" cy="1733845"/>
            <a:chOff x="0" y="0"/>
            <a:chExt cx="10947794" cy="23117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47781" cy="2311781"/>
            </a:xfrm>
            <a:custGeom>
              <a:avLst/>
              <a:gdLst/>
              <a:ahLst/>
              <a:cxnLst/>
              <a:rect l="l" t="t" r="r" b="b"/>
              <a:pathLst>
                <a:path w="10947781" h="2311781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0639552" y="0"/>
                  </a:lnTo>
                  <a:cubicBezTo>
                    <a:pt x="10809732" y="0"/>
                    <a:pt x="10947781" y="138049"/>
                    <a:pt x="10947781" y="308229"/>
                  </a:cubicBezTo>
                  <a:lnTo>
                    <a:pt x="10947781" y="2003552"/>
                  </a:lnTo>
                  <a:cubicBezTo>
                    <a:pt x="10947781" y="2173732"/>
                    <a:pt x="10809732" y="2311781"/>
                    <a:pt x="10639552" y="2311781"/>
                  </a:cubicBezTo>
                  <a:lnTo>
                    <a:pt x="308229" y="2311781"/>
                  </a:lnTo>
                  <a:cubicBezTo>
                    <a:pt x="138049" y="2311781"/>
                    <a:pt x="0" y="2173859"/>
                    <a:pt x="0" y="2003552"/>
                  </a:cubicBezTo>
                  <a:close/>
                </a:path>
              </a:pathLst>
            </a:custGeom>
            <a:solidFill>
              <a:srgbClr val="2D3748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95500" y="2476500"/>
            <a:ext cx="6572402" cy="1714795"/>
            <a:chOff x="0" y="0"/>
            <a:chExt cx="8763203" cy="22863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63200" cy="2286400"/>
            </a:xfrm>
            <a:custGeom>
              <a:avLst/>
              <a:gdLst/>
              <a:ahLst/>
              <a:cxnLst/>
              <a:rect l="l" t="t" r="r" b="b"/>
              <a:pathLst>
                <a:path w="8763200" h="2286400">
                  <a:moveTo>
                    <a:pt x="0" y="0"/>
                  </a:moveTo>
                  <a:lnTo>
                    <a:pt x="8763200" y="0"/>
                  </a:lnTo>
                  <a:lnTo>
                    <a:pt x="8763200" y="2286400"/>
                  </a:lnTo>
                  <a:lnTo>
                    <a:pt x="0" y="22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b="-24681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763203" cy="2286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Reproducible Example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7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bash scripts/run_examples.sh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4975" y="2466975"/>
            <a:ext cx="8210845" cy="1733845"/>
            <a:chOff x="0" y="0"/>
            <a:chExt cx="10947794" cy="2311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7781" cy="2311781"/>
            </a:xfrm>
            <a:custGeom>
              <a:avLst/>
              <a:gdLst/>
              <a:ahLst/>
              <a:cxnLst/>
              <a:rect l="l" t="t" r="r" b="b"/>
              <a:pathLst>
                <a:path w="10947781" h="2311781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0639552" y="0"/>
                  </a:lnTo>
                  <a:cubicBezTo>
                    <a:pt x="10809732" y="0"/>
                    <a:pt x="10947781" y="138049"/>
                    <a:pt x="10947781" y="308229"/>
                  </a:cubicBezTo>
                  <a:lnTo>
                    <a:pt x="10947781" y="2003552"/>
                  </a:lnTo>
                  <a:cubicBezTo>
                    <a:pt x="10947781" y="2173732"/>
                    <a:pt x="10809732" y="2311781"/>
                    <a:pt x="10639552" y="2311781"/>
                  </a:cubicBezTo>
                  <a:lnTo>
                    <a:pt x="308229" y="2311781"/>
                  </a:lnTo>
                  <a:cubicBezTo>
                    <a:pt x="138049" y="2311781"/>
                    <a:pt x="0" y="2173859"/>
                    <a:pt x="0" y="2003552"/>
                  </a:cubicBezTo>
                  <a:close/>
                </a:path>
              </a:pathLst>
            </a:custGeom>
            <a:solidFill>
              <a:srgbClr val="F0FFF4"/>
            </a:solidFill>
            <a:ln w="19050" cap="sq">
              <a:solidFill>
                <a:srgbClr val="C6F6D5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68000" y="2476500"/>
            <a:ext cx="6572402" cy="1714800"/>
            <a:chOff x="0" y="0"/>
            <a:chExt cx="8763203" cy="228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763200" cy="2286406"/>
            </a:xfrm>
            <a:custGeom>
              <a:avLst/>
              <a:gdLst/>
              <a:ahLst/>
              <a:cxnLst/>
              <a:rect l="l" t="t" r="r" b="b"/>
              <a:pathLst>
                <a:path w="8763200" h="2286406">
                  <a:moveTo>
                    <a:pt x="0" y="0"/>
                  </a:moveTo>
                  <a:lnTo>
                    <a:pt x="8763200" y="0"/>
                  </a:lnTo>
                  <a:lnTo>
                    <a:pt x="8763200" y="2286406"/>
                  </a:lnTo>
                  <a:lnTo>
                    <a:pt x="0" y="22864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81" b="-246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8763203" cy="228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7674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33 Automated Tests Passed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2475" y="4562475"/>
            <a:ext cx="16783050" cy="4400845"/>
            <a:chOff x="0" y="0"/>
            <a:chExt cx="22377400" cy="58677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77400" cy="5867781"/>
            </a:xfrm>
            <a:custGeom>
              <a:avLst/>
              <a:gdLst/>
              <a:ahLst/>
              <a:cxnLst/>
              <a:rect l="l" t="t" r="r" b="b"/>
              <a:pathLst>
                <a:path w="22377400" h="5867781">
                  <a:moveTo>
                    <a:pt x="0" y="408178"/>
                  </a:moveTo>
                  <a:cubicBezTo>
                    <a:pt x="0" y="182753"/>
                    <a:pt x="182753" y="0"/>
                    <a:pt x="408178" y="0"/>
                  </a:cubicBezTo>
                  <a:lnTo>
                    <a:pt x="21969222" y="0"/>
                  </a:lnTo>
                  <a:cubicBezTo>
                    <a:pt x="22194647" y="0"/>
                    <a:pt x="22377400" y="182753"/>
                    <a:pt x="22377400" y="408178"/>
                  </a:cubicBezTo>
                  <a:lnTo>
                    <a:pt x="22377400" y="5459603"/>
                  </a:lnTo>
                  <a:cubicBezTo>
                    <a:pt x="22377400" y="5685028"/>
                    <a:pt x="22194647" y="5867781"/>
                    <a:pt x="21969222" y="5867781"/>
                  </a:cubicBezTo>
                  <a:lnTo>
                    <a:pt x="408178" y="5867781"/>
                  </a:lnTo>
                  <a:cubicBezTo>
                    <a:pt x="182753" y="5867781"/>
                    <a:pt x="0" y="5685028"/>
                    <a:pt x="0" y="54596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3500" y="4953000"/>
            <a:ext cx="15621000" cy="762000"/>
            <a:chOff x="0" y="0"/>
            <a:chExt cx="20828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828000" cy="1016000"/>
            </a:xfrm>
            <a:custGeom>
              <a:avLst/>
              <a:gdLst/>
              <a:ahLst/>
              <a:cxnLst/>
              <a:rect l="l" t="t" r="r" b="b"/>
              <a:pathLst>
                <a:path w="20828000" h="1016000">
                  <a:moveTo>
                    <a:pt x="0" y="0"/>
                  </a:moveTo>
                  <a:lnTo>
                    <a:pt x="20828000" y="0"/>
                  </a:lnTo>
                  <a:lnTo>
                    <a:pt x="208280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9443" b="-349443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20828000" cy="1025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What it does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33500" y="5810250"/>
            <a:ext cx="15621000" cy="19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Runs automated tests to ensure software integrity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Analyzes included FASTA datasets for protein sequence checks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Generates comprehensive statistics, validation, and duplicate reports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Compares two sample FASTA files to identify structural differences</a:t>
            </a:r>
          </a:p>
          <a:p>
            <a:pPr marL="919480" lvl="1" indent="-45974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Writes all processed outputs directly to the </a:t>
            </a:r>
            <a:r>
              <a:rPr lang="en-US" sz="2600" b="1">
                <a:solidFill>
                  <a:srgbClr val="4A5568"/>
                </a:solidFill>
                <a:latin typeface="Inter Bold"/>
                <a:ea typeface="Inter Bold"/>
                <a:cs typeface="Inter Bold"/>
                <a:sym typeface="Inter Bold"/>
              </a:rPr>
              <a:t>output/</a:t>
            </a: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directory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52475" y="8848725"/>
            <a:ext cx="16783050" cy="971845"/>
            <a:chOff x="0" y="0"/>
            <a:chExt cx="22377400" cy="12957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2377400" cy="1295908"/>
            </a:xfrm>
            <a:custGeom>
              <a:avLst/>
              <a:gdLst/>
              <a:ahLst/>
              <a:cxnLst/>
              <a:rect l="l" t="t" r="r" b="b"/>
              <a:pathLst>
                <a:path w="22377400" h="1295908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22170010" y="0"/>
                  </a:lnTo>
                  <a:cubicBezTo>
                    <a:pt x="22284564" y="0"/>
                    <a:pt x="22377400" y="92837"/>
                    <a:pt x="22377400" y="207391"/>
                  </a:cubicBezTo>
                  <a:lnTo>
                    <a:pt x="22377400" y="1088517"/>
                  </a:lnTo>
                  <a:cubicBezTo>
                    <a:pt x="22377400" y="1203071"/>
                    <a:pt x="22284564" y="1295908"/>
                    <a:pt x="22170010" y="1295908"/>
                  </a:cubicBezTo>
                  <a:lnTo>
                    <a:pt x="207391" y="1295908"/>
                  </a:lnTo>
                  <a:cubicBezTo>
                    <a:pt x="92837" y="1295781"/>
                    <a:pt x="0" y="1202944"/>
                    <a:pt x="0" y="1088517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43000" y="8858250"/>
            <a:ext cx="16002000" cy="952795"/>
            <a:chOff x="0" y="0"/>
            <a:chExt cx="21336000" cy="12703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336000" cy="1270400"/>
            </a:xfrm>
            <a:custGeom>
              <a:avLst/>
              <a:gdLst/>
              <a:ahLst/>
              <a:cxnLst/>
              <a:rect l="l" t="t" r="r" b="b"/>
              <a:pathLst>
                <a:path w="21336000" h="1270400">
                  <a:moveTo>
                    <a:pt x="0" y="0"/>
                  </a:moveTo>
                  <a:lnTo>
                    <a:pt x="21336000" y="0"/>
                  </a:lnTo>
                  <a:lnTo>
                    <a:pt x="21336000" y="1270400"/>
                  </a:lnTo>
                  <a:lnTo>
                    <a:pt x="0" y="127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245" b="-277245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21336000" cy="1270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2C52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it matters: </a:t>
              </a:r>
              <a:r>
                <a:rPr lang="en-US" sz="2200" b="1">
                  <a:solidFill>
                    <a:srgbClr val="2C5282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The project can be checked and reproduced with one simple command.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058400"/>
            <a:ext cx="18288000" cy="228600"/>
            <a:chOff x="0" y="0"/>
            <a:chExt cx="24384000" cy="30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304800"/>
            </a:xfrm>
            <a:custGeom>
              <a:avLst/>
              <a:gdLst/>
              <a:ahLst/>
              <a:cxnLst/>
              <a:rect l="l" t="t" r="r" b="b"/>
              <a:pathLst>
                <a:path w="24384000" h="3048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" name="AutoShape 4"/>
          <p:cNvSpPr/>
          <p:nvPr/>
        </p:nvSpPr>
        <p:spPr>
          <a:xfrm>
            <a:off x="723290" y="2000250"/>
            <a:ext cx="2363429" cy="0"/>
          </a:xfrm>
          <a:prstGeom prst="line">
            <a:avLst/>
          </a:prstGeom>
          <a:ln w="28575" cap="rnd">
            <a:solidFill>
              <a:srgbClr val="3182C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l-PL"/>
          </a:p>
        </p:txBody>
      </p:sp>
      <p:grpSp>
        <p:nvGrpSpPr>
          <p:cNvPr id="5" name="Group 5"/>
          <p:cNvGrpSpPr/>
          <p:nvPr/>
        </p:nvGrpSpPr>
        <p:grpSpPr>
          <a:xfrm>
            <a:off x="762000" y="762000"/>
            <a:ext cx="16764000" cy="1143000"/>
            <a:chOff x="0" y="0"/>
            <a:chExt cx="22352000" cy="1524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352000" cy="1524000"/>
            </a:xfrm>
            <a:custGeom>
              <a:avLst/>
              <a:gdLst/>
              <a:ahLst/>
              <a:cxnLst/>
              <a:rect l="l" t="t" r="r" b="b"/>
              <a:pathLst>
                <a:path w="22352000" h="1524000">
                  <a:moveTo>
                    <a:pt x="0" y="0"/>
                  </a:moveTo>
                  <a:lnTo>
                    <a:pt x="22352000" y="0"/>
                  </a:lnTo>
                  <a:lnTo>
                    <a:pt x="223520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5780" b="-235780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2352000" cy="1524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Summary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2475" y="2276475"/>
            <a:ext cx="16783050" cy="1543050"/>
            <a:chOff x="0" y="0"/>
            <a:chExt cx="22377400" cy="2057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377400" cy="2057400"/>
            </a:xfrm>
            <a:custGeom>
              <a:avLst/>
              <a:gdLst/>
              <a:ahLst/>
              <a:cxnLst/>
              <a:rect l="l" t="t" r="r" b="b"/>
              <a:pathLst>
                <a:path w="22377400" h="2057400">
                  <a:moveTo>
                    <a:pt x="0" y="308610"/>
                  </a:moveTo>
                  <a:cubicBezTo>
                    <a:pt x="0" y="138176"/>
                    <a:pt x="138176" y="0"/>
                    <a:pt x="308610" y="0"/>
                  </a:cubicBezTo>
                  <a:lnTo>
                    <a:pt x="22068789" y="0"/>
                  </a:lnTo>
                  <a:cubicBezTo>
                    <a:pt x="22239224" y="0"/>
                    <a:pt x="22377400" y="138176"/>
                    <a:pt x="22377400" y="308610"/>
                  </a:cubicBezTo>
                  <a:lnTo>
                    <a:pt x="22377400" y="1748790"/>
                  </a:lnTo>
                  <a:cubicBezTo>
                    <a:pt x="22377400" y="1919224"/>
                    <a:pt x="22239224" y="2057400"/>
                    <a:pt x="22068789" y="2057400"/>
                  </a:cubicBezTo>
                  <a:lnTo>
                    <a:pt x="308610" y="2057400"/>
                  </a:lnTo>
                  <a:cubicBezTo>
                    <a:pt x="138176" y="2057400"/>
                    <a:pt x="0" y="1919224"/>
                    <a:pt x="0" y="17487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43000" y="2286000"/>
            <a:ext cx="16002000" cy="1524000"/>
            <a:chOff x="0" y="0"/>
            <a:chExt cx="21336000" cy="2032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36000" cy="2032000"/>
            </a:xfrm>
            <a:custGeom>
              <a:avLst/>
              <a:gdLst/>
              <a:ahLst/>
              <a:cxnLst/>
              <a:rect l="l" t="t" r="r" b="b"/>
              <a:pathLst>
                <a:path w="21336000" h="2032000">
                  <a:moveTo>
                    <a:pt x="0" y="0"/>
                  </a:moveTo>
                  <a:lnTo>
                    <a:pt x="21336000" y="0"/>
                  </a:lnTo>
                  <a:lnTo>
                    <a:pt x="21336000" y="2032000"/>
                  </a:lnTo>
                  <a:lnTo>
                    <a:pt x="0" y="203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4592" b="-154592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1336000" cy="203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718096"/>
                  </a:solidFill>
                  <a:latin typeface="Inter"/>
                  <a:ea typeface="Inter"/>
                  <a:cs typeface="Inter"/>
                  <a:sym typeface="Inter"/>
                </a:rPr>
                <a:t>What we built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3748"/>
                  </a:solidFill>
                  <a:latin typeface="Inter"/>
                  <a:ea typeface="Inter"/>
                  <a:cs typeface="Inter"/>
                  <a:sym typeface="Inter"/>
                </a:rPr>
                <a:t>ProFACT is a Python CLI tool for protein FASTA quality control and dataset comparison.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2475" y="4181475"/>
            <a:ext cx="8210845" cy="4400845"/>
            <a:chOff x="0" y="0"/>
            <a:chExt cx="10947794" cy="58677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7781" cy="5867781"/>
            </a:xfrm>
            <a:custGeom>
              <a:avLst/>
              <a:gdLst/>
              <a:ahLst/>
              <a:cxnLst/>
              <a:rect l="l" t="t" r="r" b="b"/>
              <a:pathLst>
                <a:path w="10947781" h="5867781">
                  <a:moveTo>
                    <a:pt x="0" y="408178"/>
                  </a:moveTo>
                  <a:cubicBezTo>
                    <a:pt x="0" y="182753"/>
                    <a:pt x="182753" y="0"/>
                    <a:pt x="408178" y="0"/>
                  </a:cubicBezTo>
                  <a:lnTo>
                    <a:pt x="10539603" y="0"/>
                  </a:lnTo>
                  <a:cubicBezTo>
                    <a:pt x="10765028" y="0"/>
                    <a:pt x="10947781" y="182753"/>
                    <a:pt x="10947781" y="408178"/>
                  </a:cubicBezTo>
                  <a:lnTo>
                    <a:pt x="10947781" y="5459603"/>
                  </a:lnTo>
                  <a:cubicBezTo>
                    <a:pt x="10947781" y="5685028"/>
                    <a:pt x="10765028" y="5867781"/>
                    <a:pt x="10539603" y="5867781"/>
                  </a:cubicBezTo>
                  <a:lnTo>
                    <a:pt x="408178" y="5867781"/>
                  </a:lnTo>
                  <a:cubicBezTo>
                    <a:pt x="182753" y="5867781"/>
                    <a:pt x="0" y="5685028"/>
                    <a:pt x="0" y="545960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3500" y="4476750"/>
            <a:ext cx="7048795" cy="762000"/>
            <a:chOff x="0" y="0"/>
            <a:chExt cx="9398394" cy="101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98400" cy="1016000"/>
            </a:xfrm>
            <a:custGeom>
              <a:avLst/>
              <a:gdLst/>
              <a:ahLst/>
              <a:cxnLst/>
              <a:rect l="l" t="t" r="r" b="b"/>
              <a:pathLst>
                <a:path w="9398400" h="1016000">
                  <a:moveTo>
                    <a:pt x="0" y="0"/>
                  </a:moveTo>
                  <a:lnTo>
                    <a:pt x="9398400" y="0"/>
                  </a:lnTo>
                  <a:lnTo>
                    <a:pt x="9398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244" b="-13024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9398394" cy="1025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Main Features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3500" y="5334000"/>
            <a:ext cx="7048795" cy="304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3920" lvl="1" indent="-4419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Sequence statistics</a:t>
            </a:r>
          </a:p>
          <a:p>
            <a:pPr marL="883920" lvl="1" indent="-4419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Validation of protein FASTA records</a:t>
            </a:r>
          </a:p>
          <a:p>
            <a:pPr marL="883920" lvl="1" indent="-4419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Duplicate ID &amp; sequence detection</a:t>
            </a:r>
          </a:p>
          <a:p>
            <a:pPr marL="883920" lvl="1" indent="-4419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Comparison of two FASTA datasets</a:t>
            </a:r>
          </a:p>
          <a:p>
            <a:pPr marL="883920" lvl="1" indent="-4419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Text, TSV, JSON and HTML reports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324975" y="4181475"/>
            <a:ext cx="8210845" cy="4400845"/>
            <a:chOff x="0" y="0"/>
            <a:chExt cx="10947794" cy="58677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47781" cy="5867781"/>
            </a:xfrm>
            <a:custGeom>
              <a:avLst/>
              <a:gdLst/>
              <a:ahLst/>
              <a:cxnLst/>
              <a:rect l="l" t="t" r="r" b="b"/>
              <a:pathLst>
                <a:path w="10947781" h="5867781">
                  <a:moveTo>
                    <a:pt x="0" y="408178"/>
                  </a:moveTo>
                  <a:cubicBezTo>
                    <a:pt x="0" y="182753"/>
                    <a:pt x="182753" y="0"/>
                    <a:pt x="408178" y="0"/>
                  </a:cubicBezTo>
                  <a:lnTo>
                    <a:pt x="10539603" y="0"/>
                  </a:lnTo>
                  <a:cubicBezTo>
                    <a:pt x="10765028" y="0"/>
                    <a:pt x="10947781" y="182753"/>
                    <a:pt x="10947781" y="408178"/>
                  </a:cubicBezTo>
                  <a:lnTo>
                    <a:pt x="10947781" y="5459603"/>
                  </a:lnTo>
                  <a:cubicBezTo>
                    <a:pt x="10947781" y="5685028"/>
                    <a:pt x="10765028" y="5867781"/>
                    <a:pt x="10539603" y="5867781"/>
                  </a:cubicBezTo>
                  <a:lnTo>
                    <a:pt x="408178" y="5867781"/>
                  </a:lnTo>
                  <a:cubicBezTo>
                    <a:pt x="182753" y="5867781"/>
                    <a:pt x="0" y="5685028"/>
                    <a:pt x="0" y="5459603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06000" y="4476750"/>
            <a:ext cx="7048795" cy="762000"/>
            <a:chOff x="0" y="0"/>
            <a:chExt cx="9398394" cy="1016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98400" cy="1016000"/>
            </a:xfrm>
            <a:custGeom>
              <a:avLst/>
              <a:gdLst/>
              <a:ahLst/>
              <a:cxnLst/>
              <a:rect l="l" t="t" r="r" b="b"/>
              <a:pathLst>
                <a:path w="9398400" h="1016000">
                  <a:moveTo>
                    <a:pt x="0" y="0"/>
                  </a:moveTo>
                  <a:lnTo>
                    <a:pt x="9398400" y="0"/>
                  </a:lnTo>
                  <a:lnTo>
                    <a:pt x="9398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0244" b="-130244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398394" cy="1025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2D374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Project Quality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906000" y="5334000"/>
            <a:ext cx="7048795" cy="1171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Sample FASTA datasets</a:t>
            </a:r>
          </a:p>
          <a:p>
            <a:pPr marL="561341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Reproducible script</a:t>
            </a:r>
          </a:p>
          <a:p>
            <a:pPr marL="561340" lvl="1" indent="-280670" algn="l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30 Automated tests passed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52475" y="8848725"/>
            <a:ext cx="16783050" cy="971845"/>
            <a:chOff x="0" y="0"/>
            <a:chExt cx="22377400" cy="12957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377400" cy="1295908"/>
            </a:xfrm>
            <a:custGeom>
              <a:avLst/>
              <a:gdLst/>
              <a:ahLst/>
              <a:cxnLst/>
              <a:rect l="l" t="t" r="r" b="b"/>
              <a:pathLst>
                <a:path w="22377400" h="1295908">
                  <a:moveTo>
                    <a:pt x="0" y="207391"/>
                  </a:moveTo>
                  <a:cubicBezTo>
                    <a:pt x="0" y="92837"/>
                    <a:pt x="92837" y="0"/>
                    <a:pt x="207391" y="0"/>
                  </a:cubicBezTo>
                  <a:lnTo>
                    <a:pt x="22170010" y="0"/>
                  </a:lnTo>
                  <a:cubicBezTo>
                    <a:pt x="22284564" y="0"/>
                    <a:pt x="22377400" y="92837"/>
                    <a:pt x="22377400" y="207391"/>
                  </a:cubicBezTo>
                  <a:lnTo>
                    <a:pt x="22377400" y="1088517"/>
                  </a:lnTo>
                  <a:cubicBezTo>
                    <a:pt x="22377400" y="1203071"/>
                    <a:pt x="22284564" y="1295908"/>
                    <a:pt x="22170010" y="1295908"/>
                  </a:cubicBezTo>
                  <a:lnTo>
                    <a:pt x="207391" y="1295908"/>
                  </a:lnTo>
                  <a:cubicBezTo>
                    <a:pt x="92837" y="1295781"/>
                    <a:pt x="0" y="1202944"/>
                    <a:pt x="0" y="1088517"/>
                  </a:cubicBezTo>
                  <a:close/>
                </a:path>
              </a:pathLst>
            </a:custGeom>
            <a:solidFill>
              <a:srgbClr val="EBF8FF"/>
            </a:solidFill>
            <a:ln w="19050" cap="sq">
              <a:solidFill>
                <a:srgbClr val="BEE3F8"/>
              </a:solidFill>
              <a:prstDash val="solid"/>
              <a:miter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43000" y="8858250"/>
            <a:ext cx="16002000" cy="952795"/>
            <a:chOff x="0" y="0"/>
            <a:chExt cx="21336000" cy="12703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336000" cy="1270400"/>
            </a:xfrm>
            <a:custGeom>
              <a:avLst/>
              <a:gdLst/>
              <a:ahLst/>
              <a:cxnLst/>
              <a:rect l="l" t="t" r="r" b="b"/>
              <a:pathLst>
                <a:path w="21336000" h="1270400">
                  <a:moveTo>
                    <a:pt x="0" y="0"/>
                  </a:moveTo>
                  <a:lnTo>
                    <a:pt x="21336000" y="0"/>
                  </a:lnTo>
                  <a:lnTo>
                    <a:pt x="21336000" y="1270400"/>
                  </a:lnTo>
                  <a:lnTo>
                    <a:pt x="0" y="127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245" b="-277245"/>
              </a:stretch>
            </a:blipFill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21336000" cy="1270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2C52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Final message: </a:t>
              </a:r>
              <a:r>
                <a:rPr lang="en-US" sz="2200">
                  <a:solidFill>
                    <a:srgbClr val="2C5282"/>
                  </a:solidFill>
                  <a:latin typeface="Inter"/>
                  <a:ea typeface="Inter"/>
                  <a:cs typeface="Inter"/>
                  <a:sym typeface="Inter"/>
                </a:rPr>
                <a:t>ProFACT combines common protein FASTA checks into one small, testable and easy-to-run tool.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Office PowerPoint</Application>
  <PresentationFormat>Custom</PresentationFormat>
  <Paragraphs>144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Inter Italics</vt:lpstr>
      <vt:lpstr>Courier New Bold</vt:lpstr>
      <vt:lpstr>Courier New</vt:lpstr>
      <vt:lpstr>Inter</vt:lpstr>
      <vt:lpstr>Calibri</vt:lpstr>
      <vt:lpstr>Inter Light</vt:lpstr>
      <vt:lpstr>Arial</vt:lpstr>
      <vt:lpstr>Inter Medium</vt:lpstr>
      <vt:lpstr>Inter 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ProFACT</dc:title>
  <cp:lastModifiedBy>Wojciech Moryl</cp:lastModifiedBy>
  <cp:revision>2</cp:revision>
  <dcterms:created xsi:type="dcterms:W3CDTF">2006-08-16T00:00:00Z</dcterms:created>
  <dcterms:modified xsi:type="dcterms:W3CDTF">2026-06-09T05:17:24Z</dcterms:modified>
  <dc:identifier>DAHLyONx63I</dc:identifier>
</cp:coreProperties>
</file>